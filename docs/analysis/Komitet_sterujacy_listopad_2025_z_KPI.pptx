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9" r:id="rId6"/>
    <p:sldId id="261" r:id="rId7"/>
    <p:sldId id="267" r:id="rId8"/>
    <p:sldId id="262" r:id="rId9"/>
    <p:sldId id="268" r:id="rId10"/>
    <p:sldId id="263" r:id="rId11"/>
    <p:sldId id="269" r:id="rId12"/>
    <p:sldId id="264" r:id="rId13"/>
    <p:sldId id="270" r:id="rId14"/>
    <p:sldId id="265" r:id="rId15"/>
    <p:sldId id="271" r:id="rId16"/>
    <p:sldId id="266" r:id="rId17"/>
    <p:sldId id="272" r:id="rId18"/>
    <p:sldId id="296" r:id="rId19"/>
    <p:sldId id="260" r:id="rId20"/>
    <p:sldId id="273" r:id="rId21"/>
    <p:sldId id="285" r:id="rId22"/>
    <p:sldId id="275" r:id="rId23"/>
    <p:sldId id="286" r:id="rId24"/>
    <p:sldId id="277" r:id="rId25"/>
    <p:sldId id="291" r:id="rId26"/>
    <p:sldId id="281" r:id="rId27"/>
    <p:sldId id="293" r:id="rId28"/>
    <p:sldId id="283" r:id="rId29"/>
    <p:sldId id="294" r:id="rId30"/>
    <p:sldId id="289" r:id="rId31"/>
    <p:sldId id="295" r:id="rId32"/>
    <p:sldId id="298" r:id="rId33"/>
    <p:sldId id="297" r:id="rId34"/>
    <p:sldId id="301" r:id="rId35"/>
    <p:sldId id="302" r:id="rId36"/>
    <p:sldId id="303" r:id="rId37"/>
    <p:sldId id="304" r:id="rId38"/>
    <p:sldId id="305" r:id="rId39"/>
    <p:sldId id="306" r:id="rId40"/>
    <p:sldId id="308" r:id="rId41"/>
    <p:sldId id="307" r:id="rId4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1"/>
  </p:normalViewPr>
  <p:slideViewPr>
    <p:cSldViewPr snapToGrid="0">
      <p:cViewPr varScale="1">
        <p:scale>
          <a:sx n="105" d="100"/>
          <a:sy n="105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24.02.2026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24.02.2026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24.02.2026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24.02.2026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24.02.2026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24.02.2026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24.02.2026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zapytania@b2bnetwork.p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b2bnetsa.sharepoint.com/:x:/r/sites/B2B_ALL/_layouts/15/Doc.aspx?sourcedoc=%7B7A3439C9-5873-465B-BD1B-09C94BC69F67%7D&amp;file=Podsumowanie%20DL.xlsx&amp;action=default&amp;mobileredirect=true&amp;wdOrigin=TEAMS-MAGLEV.p2p_ns.rwc&amp;wdExp=TEAMS-TREATMENT&amp;wdhostclicktime=1762865548332&amp;web=1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b2bnetsa.sharepoint.com/:x:/r/sites/B2B_ALL/_layouts/15/Doc.aspx?sourcedoc=%7B1FE9612E-38C1-4011-BF58-987448DECA11%7D&amp;file=BDM%20Stats.xlsx&amp;action=default&amp;mobileredirect=true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Komitet Sterujący 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Grudzień 2025</a:t>
            </a:r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CA51A-5348-E14D-0E49-1F1A519547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Body Leasing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D8CFF-AD19-353E-E5CF-562547A711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Proces</a:t>
            </a:r>
            <a:r>
              <a:rPr lang="en-US"/>
              <a:t> &amp; wyniki</a:t>
            </a:r>
          </a:p>
        </p:txBody>
      </p:sp>
    </p:spTree>
    <p:extLst>
      <p:ext uri="{BB962C8B-B14F-4D97-AF65-F5344CB8AC3E}">
        <p14:creationId xmlns:p14="http://schemas.microsoft.com/office/powerpoint/2010/main" val="2497346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23F38-E058-F5E6-3D32-0EA36907E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1. Demand Definition (Request to Search)</a:t>
            </a:r>
            <a:endParaRPr lang="en-US">
              <a:latin typeface="Aptos Display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067C9F-93C8-1434-FC04-5168CE4BFF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6409529"/>
              </p:ext>
            </p:extLst>
          </p:nvPr>
        </p:nvGraphicFramePr>
        <p:xfrm>
          <a:off x="2350571" y="2771034"/>
          <a:ext cx="7490858" cy="3298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0244">
                  <a:extLst>
                    <a:ext uri="{9D8B030D-6E8A-4147-A177-3AD203B41FA5}">
                      <a16:colId xmlns:a16="http://schemas.microsoft.com/office/drawing/2014/main" val="1891426940"/>
                    </a:ext>
                  </a:extLst>
                </a:gridCol>
                <a:gridCol w="1131408">
                  <a:extLst>
                    <a:ext uri="{9D8B030D-6E8A-4147-A177-3AD203B41FA5}">
                      <a16:colId xmlns:a16="http://schemas.microsoft.com/office/drawing/2014/main" val="1100671856"/>
                    </a:ext>
                  </a:extLst>
                </a:gridCol>
                <a:gridCol w="2389206">
                  <a:extLst>
                    <a:ext uri="{9D8B030D-6E8A-4147-A177-3AD203B41FA5}">
                      <a16:colId xmlns:a16="http://schemas.microsoft.com/office/drawing/2014/main" val="882654972"/>
                    </a:ext>
                  </a:extLst>
                </a:gridCol>
              </a:tblGrid>
              <a:tr h="58562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649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Uzupełnienie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szablonu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profilu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championa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poprzez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konsultacje</a:t>
                      </a:r>
                      <a:r>
                        <a:rPr lang="en-US"/>
                        <a:t> z:</a:t>
                      </a:r>
                      <a:br>
                        <a:rPr lang="en-US"/>
                      </a:br>
                      <a:r>
                        <a:rPr lang="en-US"/>
                        <a:t>1. Procurement / IT manager</a:t>
                      </a:r>
                    </a:p>
                    <a:p>
                      <a:pPr algn="ctr"/>
                      <a:r>
                        <a:rPr lang="en-US"/>
                        <a:t>2. </a:t>
                      </a:r>
                      <a:r>
                        <a:rPr lang="en-US" err="1"/>
                        <a:t>Wewnętrzny</a:t>
                      </a:r>
                      <a:r>
                        <a:rPr lang="en-US"/>
                        <a:t> consultant </a:t>
                      </a:r>
                    </a:p>
                    <a:p>
                      <a:pPr algn="ctr"/>
                      <a:endParaRPr lang="en-US"/>
                    </a:p>
                    <a:p>
                      <a:pPr algn="ctr"/>
                      <a:r>
                        <a:rPr lang="en-US"/>
                        <a:t>Request od </a:t>
                      </a:r>
                      <a:r>
                        <a:rPr lang="en-US" err="1"/>
                        <a:t>klienta</a:t>
                      </a:r>
                      <a:r>
                        <a:rPr lang="en-US"/>
                        <a:t>, </a:t>
                      </a:r>
                      <a:r>
                        <a:rPr lang="en-US" err="1"/>
                        <a:t>wrzucony</a:t>
                      </a:r>
                      <a:r>
                        <a:rPr lang="en-US"/>
                        <a:t> do ATS </a:t>
                      </a:r>
                      <a:r>
                        <a:rPr lang="en-US" err="1"/>
                        <a:t>natychmiastowo</a:t>
                      </a:r>
                      <a:r>
                        <a:rPr lang="en-US"/>
                        <a:t> (max 2h), a </a:t>
                      </a:r>
                      <a:r>
                        <a:rPr lang="en-US" err="1"/>
                        <a:t>profil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championa</a:t>
                      </a:r>
                      <a:r>
                        <a:rPr lang="en-US"/>
                        <a:t> do 24h.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Delivery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0C0"/>
                          </a:solidFill>
                        </a:rPr>
                        <a:t>DD-01: Profile Completion Rate</a:t>
                      </a:r>
                    </a:p>
                    <a:p>
                      <a:br>
                        <a:rPr/>
                      </a:br>
                      <a:r>
                        <a:t>1. 100% </a:t>
                      </a:r>
                      <a:r>
                        <a:rPr err="1"/>
                        <a:t>uzupełnionych</a:t>
                      </a:r>
                      <a:r>
                        <a:t> </a:t>
                      </a:r>
                      <a:r>
                        <a:rPr err="1"/>
                        <a:t>profili</a:t>
                      </a:r>
                      <a:r>
                        <a:t> </a:t>
                      </a:r>
                      <a:r>
                        <a:rPr err="1"/>
                        <a:t>championa</a:t>
                      </a:r>
                      <a:br>
                        <a:rPr/>
                      </a:br>
                      <a:r>
                        <a:t>2. Do 24h od request </a:t>
                      </a:r>
                      <a:r>
                        <a:rPr err="1"/>
                        <a:t>stworzony</a:t>
                      </a:r>
                      <a:r>
                        <a:t> </a:t>
                      </a:r>
                      <a:r>
                        <a:rPr err="1"/>
                        <a:t>profil</a:t>
                      </a:r>
                      <a:r>
                        <a:t> </a:t>
                      </a:r>
                      <a:r>
                        <a:rPr err="1"/>
                        <a:t>championa</a:t>
                      </a:r>
                      <a:br>
                        <a:rPr/>
                      </a:br>
                      <a:r>
                        <a:t>3. Do 2h request </a:t>
                      </a:r>
                      <a:r>
                        <a:rPr err="1"/>
                        <a:t>wrzucony</a:t>
                      </a:r>
                      <a:r>
                        <a:t> do ATS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0578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9DDFD60-B8F5-8AC2-C390-AAB3B4E9B2B5}"/>
              </a:ext>
            </a:extLst>
          </p:cNvPr>
          <p:cNvSpPr txBox="1"/>
          <p:nvPr/>
        </p:nvSpPr>
        <p:spPr>
          <a:xfrm>
            <a:off x="838200" y="1690688"/>
            <a:ext cx="61022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</a:t>
            </a:r>
            <a:r>
              <a:rPr lang="pl-PL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Precyzyjne zrozumienie potrzeb klienta.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pl-PL" sz="1800" b="1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Outcome</a:t>
            </a:r>
            <a:r>
              <a:rPr lang="pl-PL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Profil Championa (idealnego kandydata).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696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8B39B-EBA5-F4C8-053C-07037586F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8B02-B4F8-E8D8-5118-971B7B347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1. Demand Definition (Request to Search)</a:t>
            </a:r>
            <a:endParaRPr lang="en-US">
              <a:latin typeface="Aptos Displa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D804A6-4F65-7064-89F9-12BAEC124EA9}"/>
              </a:ext>
            </a:extLst>
          </p:cNvPr>
          <p:cNvSpPr txBox="1"/>
          <p:nvPr/>
        </p:nvSpPr>
        <p:spPr>
          <a:xfrm>
            <a:off x="717514" y="1690688"/>
            <a:ext cx="61022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kern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Improvement</a:t>
            </a:r>
            <a:r>
              <a:rPr lang="pl-PL" b="1" kern="0">
                <a:latin typeface="Times New Roman" panose="02020603050405020304" pitchFamily="18" charset="0"/>
                <a:ea typeface="Times New Roman" panose="02020603050405020304" pitchFamily="18" charset="0"/>
              </a:rPr>
              <a:t> Plan: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ker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Dominik doda update </a:t>
            </a:r>
            <a:r>
              <a:rPr lang="pl-PL" b="1" kern="0" err="1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temaplate</a:t>
            </a:r>
            <a:r>
              <a:rPr lang="pl-PL" b="1" ker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profil championa -&gt; wykonane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b="1" kern="0" err="1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Dostepy</a:t>
            </a:r>
            <a:r>
              <a:rPr lang="pl-PL" sz="1800" b="1" kern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do platform </a:t>
            </a:r>
            <a:r>
              <a:rPr lang="pl-PL" sz="1800" b="1" kern="0" err="1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requestujących</a:t>
            </a:r>
            <a:r>
              <a:rPr lang="pl-PL" sz="1800" b="1" kern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-&gt; wykonane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b="1" ker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adres email pod zapytania np. </a:t>
            </a:r>
            <a:r>
              <a:rPr lang="pl-PL" sz="1800" b="1" ker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zapytania@b2bnetwork.pl</a:t>
            </a:r>
            <a:r>
              <a:rPr lang="pl-PL" sz="1800" b="1" kern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-&gt; Ania -&gt; częściowo wykonane.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b="1" ker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b="1" kern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Aprovall</a:t>
            </a:r>
            <a:r>
              <a:rPr lang="pl-PL" sz="1800" b="1" ker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kern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request</a:t>
            </a:r>
            <a:r>
              <a:rPr lang="pl-PL" sz="1800" b="1" ker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-&gt; automatyzacja w </a:t>
            </a:r>
            <a:r>
              <a:rPr lang="pl-PL" sz="1800" b="1" kern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Traffit</a:t>
            </a:r>
            <a:r>
              <a:rPr lang="pl-PL" sz="1800" b="1" ker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do Dominika. Dominik decyduje czy przepuszcza. Do tego czasu ręcznie -&gt; idziemy w kierunku zmiany ATS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71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9D78F-5774-EF91-F926-47188D2CB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4A78A-00F9-220F-1568-7283ECC89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96" y="0"/>
            <a:ext cx="10515600" cy="1028927"/>
          </a:xfrm>
        </p:spPr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2. Talent Discovery (Search to Screening)</a:t>
            </a:r>
            <a:endParaRPr lang="en-US">
              <a:latin typeface="Aptos Display"/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C102659C-BC00-EA9F-1CCE-2449A7F035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7522840"/>
              </p:ext>
            </p:extLst>
          </p:nvPr>
        </p:nvGraphicFramePr>
        <p:xfrm>
          <a:off x="838200" y="1519981"/>
          <a:ext cx="10515600" cy="622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9393">
                  <a:extLst>
                    <a:ext uri="{9D8B030D-6E8A-4147-A177-3AD203B41FA5}">
                      <a16:colId xmlns:a16="http://schemas.microsoft.com/office/drawing/2014/main" val="1891426940"/>
                    </a:ext>
                  </a:extLst>
                </a:gridCol>
                <a:gridCol w="1399039">
                  <a:extLst>
                    <a:ext uri="{9D8B030D-6E8A-4147-A177-3AD203B41FA5}">
                      <a16:colId xmlns:a16="http://schemas.microsoft.com/office/drawing/2014/main" val="1100671856"/>
                    </a:ext>
                  </a:extLst>
                </a:gridCol>
                <a:gridCol w="4207168">
                  <a:extLst>
                    <a:ext uri="{9D8B030D-6E8A-4147-A177-3AD203B41FA5}">
                      <a16:colId xmlns:a16="http://schemas.microsoft.com/office/drawing/2014/main" val="882654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649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Search w ATS </a:t>
                      </a:r>
                      <a:r>
                        <a:rPr lang="en-US" err="1"/>
                        <a:t>i</a:t>
                      </a:r>
                      <a:r>
                        <a:rPr lang="en-US"/>
                        <a:t> prospecting report </a:t>
                      </a:r>
                      <a:r>
                        <a:rPr lang="en-US" err="1"/>
                        <a:t>na</a:t>
                      </a:r>
                      <a:r>
                        <a:rPr lang="en-US"/>
                        <a:t> teams do DL (</a:t>
                      </a:r>
                      <a:r>
                        <a:rPr lang="en-US" err="1"/>
                        <a:t>ilosc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potencjalnych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kandyatów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znalezionych</a:t>
                      </a:r>
                      <a:r>
                        <a:rPr lang="en-US"/>
                        <a:t>) </a:t>
                      </a:r>
                      <a:r>
                        <a:rPr lang="en-US" err="1"/>
                        <a:t>tego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samego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dnia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Sourcer</a:t>
                      </a:r>
                      <a:r>
                        <a:rPr lang="en-US"/>
                        <a:t> or 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0C0"/>
                          </a:solidFill>
                        </a:rPr>
                        <a:t>TD-01: </a:t>
                      </a:r>
                      <a:r>
                        <a:rPr sz="1000" b="1" err="1">
                          <a:solidFill>
                            <a:srgbClr val="0070C0"/>
                          </a:solidFill>
                        </a:rPr>
                        <a:t>Sourcer</a:t>
                      </a:r>
                      <a:r>
                        <a:rPr sz="1000" b="1">
                          <a:solidFill>
                            <a:srgbClr val="0070C0"/>
                          </a:solidFill>
                        </a:rPr>
                        <a:t> Daily </a:t>
                      </a:r>
                      <a:r>
                        <a:rPr lang="pl-PL" sz="1000" b="1" err="1">
                          <a:solidFill>
                            <a:srgbClr val="0070C0"/>
                          </a:solidFill>
                        </a:rPr>
                        <a:t>veryfication</a:t>
                      </a:r>
                      <a:r>
                        <a:rPr lang="pl-PL" sz="1000" b="1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pl-PL" sz="1000" b="1" err="1">
                          <a:solidFill>
                            <a:srgbClr val="0070C0"/>
                          </a:solidFill>
                        </a:rPr>
                        <a:t>amount</a:t>
                      </a:r>
                      <a:endParaRPr sz="1000" b="1">
                        <a:solidFill>
                          <a:srgbClr val="0070C0"/>
                        </a:solidFill>
                      </a:endParaRPr>
                    </a:p>
                    <a:p>
                      <a:br>
                        <a:rPr/>
                      </a:br>
                      <a:r>
                        <a:t>4 </a:t>
                      </a:r>
                      <a:r>
                        <a:rPr err="1"/>
                        <a:t>zweryfikowanych</a:t>
                      </a:r>
                      <a:r>
                        <a:t> </a:t>
                      </a:r>
                      <a:r>
                        <a:rPr err="1"/>
                        <a:t>kandydatów</a:t>
                      </a:r>
                      <a:r>
                        <a:t> </a:t>
                      </a:r>
                      <a:r>
                        <a:rPr err="1"/>
                        <a:t>dziennie</a:t>
                      </a:r>
                      <a:r>
                        <a:t> per </a:t>
                      </a:r>
                      <a:r>
                        <a:rPr err="1"/>
                        <a:t>Sourcer</a:t>
                      </a:r>
                      <a:br>
                        <a:rPr/>
                      </a:b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057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Ogłoszenie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na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pracuj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Sourcer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0C0"/>
                          </a:solidFill>
                        </a:rPr>
                        <a:t>TD-02: </a:t>
                      </a:r>
                      <a:r>
                        <a:rPr lang="pl-PL" sz="1000" b="1" err="1">
                          <a:solidFill>
                            <a:srgbClr val="0070C0"/>
                          </a:solidFill>
                        </a:rPr>
                        <a:t>job</a:t>
                      </a:r>
                      <a:r>
                        <a:rPr lang="pl-PL" sz="1000" b="1">
                          <a:solidFill>
                            <a:srgbClr val="0070C0"/>
                          </a:solidFill>
                        </a:rPr>
                        <a:t> post </a:t>
                      </a:r>
                      <a:r>
                        <a:rPr lang="pl-PL" sz="1000" b="1" err="1">
                          <a:solidFill>
                            <a:srgbClr val="0070C0"/>
                          </a:solidFill>
                        </a:rPr>
                        <a:t>coverage</a:t>
                      </a:r>
                      <a:endParaRPr sz="1000" b="1">
                        <a:solidFill>
                          <a:srgbClr val="0070C0"/>
                        </a:solidFill>
                      </a:endParaRPr>
                    </a:p>
                    <a:p>
                      <a:pPr algn="l"/>
                      <a:br>
                        <a:rPr/>
                      </a:br>
                      <a:r>
                        <a:t>100% coverage (</a:t>
                      </a:r>
                      <a:r>
                        <a:rPr err="1"/>
                        <a:t>kazda</a:t>
                      </a:r>
                      <a:r>
                        <a:t> </a:t>
                      </a:r>
                      <a:r>
                        <a:rPr err="1"/>
                        <a:t>rekrutacja</a:t>
                      </a:r>
                      <a:r>
                        <a:t> ma </a:t>
                      </a:r>
                      <a:r>
                        <a:rPr err="1"/>
                        <a:t>og</a:t>
                      </a:r>
                      <a:r>
                        <a:rPr lang="pl-PL"/>
                        <a:t>ł</a:t>
                      </a:r>
                      <a:r>
                        <a:t>o</a:t>
                      </a:r>
                      <a:r>
                        <a:rPr lang="pl-PL"/>
                        <a:t>s</a:t>
                      </a:r>
                      <a:r>
                        <a:rPr err="1"/>
                        <a:t>zenie</a:t>
                      </a:r>
                      <a: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770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Search </a:t>
                      </a:r>
                      <a:r>
                        <a:rPr lang="en-US" err="1"/>
                        <a:t>na</a:t>
                      </a:r>
                      <a:r>
                        <a:rPr lang="en-US"/>
                        <a:t> LinkedIn </a:t>
                      </a:r>
                      <a:r>
                        <a:rPr lang="en-US" err="1"/>
                        <a:t>i</a:t>
                      </a:r>
                      <a:r>
                        <a:rPr lang="en-US"/>
                        <a:t> prospecting report </a:t>
                      </a:r>
                      <a:r>
                        <a:rPr lang="en-US" err="1"/>
                        <a:t>na</a:t>
                      </a:r>
                      <a:r>
                        <a:rPr lang="en-US"/>
                        <a:t> teams do DL (</a:t>
                      </a:r>
                      <a:r>
                        <a:rPr lang="en-US" err="1"/>
                        <a:t>ilosc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potencjalnych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kandyatów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znalezionych</a:t>
                      </a:r>
                      <a:r>
                        <a:rPr lang="en-US"/>
                        <a:t>) </a:t>
                      </a:r>
                      <a:r>
                        <a:rPr lang="en-US" err="1"/>
                        <a:t>tego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samego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dnia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Rekruter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0C0"/>
                          </a:solidFill>
                        </a:rPr>
                        <a:t>TD-03: </a:t>
                      </a:r>
                      <a:r>
                        <a:rPr lang="pl-PL" sz="1000" b="1" err="1">
                          <a:solidFill>
                            <a:srgbClr val="0070C0"/>
                          </a:solidFill>
                        </a:rPr>
                        <a:t>Recruiter</a:t>
                      </a:r>
                      <a:r>
                        <a:rPr lang="pl-PL" sz="1000" b="1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pl-PL" sz="1000" b="1" err="1">
                          <a:solidFill>
                            <a:srgbClr val="0070C0"/>
                          </a:solidFill>
                        </a:rPr>
                        <a:t>weekly</a:t>
                      </a:r>
                      <a:r>
                        <a:rPr lang="pl-PL" sz="1000" b="1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pl-PL" sz="1000" b="1" err="1">
                          <a:solidFill>
                            <a:srgbClr val="0070C0"/>
                          </a:solidFill>
                        </a:rPr>
                        <a:t>new</a:t>
                      </a:r>
                      <a:r>
                        <a:rPr lang="pl-PL" sz="1000" b="1">
                          <a:solidFill>
                            <a:srgbClr val="0070C0"/>
                          </a:solidFill>
                        </a:rPr>
                        <a:t> CV </a:t>
                      </a:r>
                      <a:r>
                        <a:rPr lang="pl-PL" sz="1000" b="1" err="1">
                          <a:solidFill>
                            <a:srgbClr val="0070C0"/>
                          </a:solidFill>
                        </a:rPr>
                        <a:t>upload</a:t>
                      </a:r>
                      <a:endParaRPr sz="1000" b="1">
                        <a:solidFill>
                          <a:srgbClr val="0070C0"/>
                        </a:solidFill>
                      </a:endParaRPr>
                    </a:p>
                    <a:p>
                      <a:br>
                        <a:rPr/>
                      </a:br>
                      <a:r>
                        <a:t>5 </a:t>
                      </a:r>
                      <a:r>
                        <a:rPr err="1"/>
                        <a:t>osob</a:t>
                      </a:r>
                      <a:r>
                        <a:t> </a:t>
                      </a:r>
                      <a:r>
                        <a:rPr err="1"/>
                        <a:t>nowych</a:t>
                      </a:r>
                      <a:r>
                        <a:t> </a:t>
                      </a:r>
                      <a:r>
                        <a:rPr err="1"/>
                        <a:t>dodanych</a:t>
                      </a:r>
                      <a:r>
                        <a:t> do </a:t>
                      </a:r>
                      <a:r>
                        <a:rPr err="1"/>
                        <a:t>bazy</a:t>
                      </a:r>
                      <a:r>
                        <a:t> </a:t>
                      </a:r>
                      <a:r>
                        <a:rPr err="1"/>
                        <a:t>dziennie</a:t>
                      </a:r>
                      <a:br>
                        <a:rPr/>
                      </a:b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505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Screening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Sourcer</a:t>
                      </a:r>
                      <a:r>
                        <a:rPr lang="en-US"/>
                        <a:t> or TAC or </a:t>
                      </a:r>
                      <a:r>
                        <a:rPr lang="en-US" err="1"/>
                        <a:t>Rekruter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err="1"/>
                        <a:t>Każdy</a:t>
                      </a:r>
                      <a:r>
                        <a:t> screening </a:t>
                      </a:r>
                      <a:r>
                        <a:rPr err="1"/>
                        <a:t>zawiera</a:t>
                      </a:r>
                      <a:r>
                        <a:t> </a:t>
                      </a:r>
                      <a:r>
                        <a:rPr err="1"/>
                        <a:t>pełna</a:t>
                      </a:r>
                      <a:r>
                        <a:t> </a:t>
                      </a:r>
                      <a:r>
                        <a:rPr err="1"/>
                        <a:t>notatke</a:t>
                      </a:r>
                      <a:r>
                        <a:t> </a:t>
                      </a:r>
                      <a:br>
                        <a:rPr/>
                      </a:br>
                      <a:r>
                        <a:rPr err="1"/>
                        <a:t>Powiadomienie</a:t>
                      </a:r>
                      <a:r>
                        <a:t> o </a:t>
                      </a:r>
                      <a:r>
                        <a:rPr err="1"/>
                        <a:t>innych</a:t>
                      </a:r>
                      <a:r>
                        <a:t> </a:t>
                      </a:r>
                      <a:r>
                        <a:rPr err="1"/>
                        <a:t>procesach</a:t>
                      </a:r>
                      <a:r>
                        <a:t> </a:t>
                      </a:r>
                      <a:r>
                        <a:rPr err="1"/>
                        <a:t>danego</a:t>
                      </a:r>
                      <a:r>
                        <a:t> </a:t>
                      </a:r>
                      <a:r>
                        <a:rPr err="1"/>
                        <a:t>kandydata</a:t>
                      </a:r>
                      <a:br>
                        <a:rPr/>
                      </a:br>
                      <a:r>
                        <a:rPr err="1"/>
                        <a:t>Informacja</a:t>
                      </a:r>
                      <a:r>
                        <a:t> o </a:t>
                      </a:r>
                      <a:r>
                        <a:rPr err="1"/>
                        <a:t>markach</a:t>
                      </a:r>
                      <a:r>
                        <a:t> b2b.net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578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Monitoring pipeline. </a:t>
                      </a:r>
                      <a:r>
                        <a:rPr lang="en-US" err="1"/>
                        <a:t>Zgłaszanie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problemów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zagrożeń</a:t>
                      </a:r>
                      <a:r>
                        <a:rPr lang="en-US"/>
                        <a:t> do </a:t>
                      </a:r>
                      <a:r>
                        <a:rPr lang="en-US" err="1"/>
                        <a:t>leada</a:t>
                      </a:r>
                      <a:r>
                        <a:rPr lang="en-US"/>
                        <a:t> inbound </a:t>
                      </a:r>
                      <a:r>
                        <a:rPr lang="en-US" err="1"/>
                        <a:t>i</a:t>
                      </a:r>
                      <a:r>
                        <a:rPr lang="en-US"/>
                        <a:t> outbound body </a:t>
                      </a:r>
                      <a:r>
                        <a:rPr lang="en-US" err="1"/>
                        <a:t>leasingu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Delivery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err="1"/>
                        <a:t>Iloc</a:t>
                      </a:r>
                      <a:r>
                        <a:t> </a:t>
                      </a:r>
                      <a:r>
                        <a:rPr err="1"/>
                        <a:t>rekomendacji</a:t>
                      </a:r>
                      <a:r>
                        <a:t> per request:</a:t>
                      </a:r>
                      <a:br>
                        <a:rPr/>
                      </a:br>
                      <a:r>
                        <a:t>Standard – minimum 8 </a:t>
                      </a:r>
                      <a:r>
                        <a:rPr err="1"/>
                        <a:t>osob</a:t>
                      </a:r>
                      <a:br>
                        <a:rPr/>
                      </a:br>
                      <a:r>
                        <a:t>Ni</a:t>
                      </a:r>
                      <a:r>
                        <a:rPr lang="pl-PL" err="1"/>
                        <a:t>szowe</a:t>
                      </a:r>
                      <a:r>
                        <a:t> – minimum 3 </a:t>
                      </a:r>
                      <a:r>
                        <a:rPr err="1"/>
                        <a:t>osoby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2759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4FCCBFB-07B1-D0DA-CB47-8D2F330228C8}"/>
              </a:ext>
            </a:extLst>
          </p:cNvPr>
          <p:cNvSpPr txBox="1"/>
          <p:nvPr/>
        </p:nvSpPr>
        <p:spPr>
          <a:xfrm>
            <a:off x="591456" y="830264"/>
            <a:ext cx="94786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</a:t>
            </a:r>
            <a:r>
              <a:rPr lang="pl-PL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/>
              <a:t>Identyfikacja i wstępna selekcja dopasowanych kandydatów.</a:t>
            </a:r>
            <a:r>
              <a:rPr lang="en-US"/>
              <a:t> 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pl-PL" sz="1800" b="1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Outcome</a:t>
            </a:r>
            <a:r>
              <a:rPr lang="pl-PL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err="1"/>
              <a:t>Pipeline</a:t>
            </a:r>
            <a:r>
              <a:rPr lang="pl-PL"/>
              <a:t> zakwalifikowanych profili.</a:t>
            </a:r>
            <a:r>
              <a:rPr lang="en-US"/>
              <a:t> 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92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35CF2-F0E0-D308-73FF-4E655C8B3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834A7-85E8-FB4C-CE00-825AEAD06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96" y="0"/>
            <a:ext cx="10515600" cy="1028927"/>
          </a:xfrm>
        </p:spPr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2. Talent Discovery (Search to Screening)</a:t>
            </a:r>
            <a:endParaRPr lang="en-US">
              <a:latin typeface="Aptos Display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CF026D-DDCF-CF0D-A394-1A585E1CE41F}"/>
              </a:ext>
            </a:extLst>
          </p:cNvPr>
          <p:cNvSpPr txBox="1"/>
          <p:nvPr/>
        </p:nvSpPr>
        <p:spPr>
          <a:xfrm>
            <a:off x="309796" y="1388846"/>
            <a:ext cx="6102220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kern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Improvement</a:t>
            </a:r>
            <a:r>
              <a:rPr lang="pl-PL" b="1" kern="0">
                <a:latin typeface="Times New Roman" panose="02020603050405020304" pitchFamily="18" charset="0"/>
                <a:ea typeface="Times New Roman" panose="02020603050405020304" pitchFamily="18" charset="0"/>
              </a:rPr>
              <a:t> Plan:</a:t>
            </a:r>
          </a:p>
          <a:p>
            <a:r>
              <a:rPr lang="pl-PL" b="1" kern="0" err="1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Dostepy</a:t>
            </a:r>
            <a:r>
              <a:rPr lang="pl-PL" b="1" ker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do pracuj i </a:t>
            </a:r>
            <a:r>
              <a:rPr lang="pl-PL" b="1" kern="0" err="1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jjit</a:t>
            </a:r>
            <a:r>
              <a:rPr lang="pl-PL" b="1" ker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-&gt; wykonane</a:t>
            </a:r>
            <a:br>
              <a:rPr lang="pl-PL" b="1" kern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pl-PL" b="1" ker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Przy kontakcie na </a:t>
            </a:r>
            <a:r>
              <a:rPr lang="pl-PL" b="1" kern="0" err="1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linkedin</a:t>
            </a:r>
            <a:r>
              <a:rPr lang="pl-PL" b="1" ker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prosimy o CV -&gt; wykonane</a:t>
            </a:r>
          </a:p>
          <a:p>
            <a:r>
              <a:rPr lang="pl-PL" b="1" ker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Unikalne linki z </a:t>
            </a:r>
            <a:r>
              <a:rPr lang="pl-PL" b="1" kern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traffit</a:t>
            </a:r>
            <a:r>
              <a:rPr lang="pl-PL" b="1" ker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do </a:t>
            </a:r>
            <a:r>
              <a:rPr lang="pl-PL" b="1" kern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ogloszeń</a:t>
            </a:r>
            <a:r>
              <a:rPr lang="pl-PL" b="1" ker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per rekruter -&gt; niewykonalne w </a:t>
            </a:r>
            <a:r>
              <a:rPr lang="pl-PL" b="1" kern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Traffit</a:t>
            </a:r>
            <a:r>
              <a:rPr lang="pl-PL" b="1" ker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Idziemy w kierunku zmiany </a:t>
            </a:r>
            <a:r>
              <a:rPr lang="pl-PL" b="1" kern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ATSa</a:t>
            </a:r>
            <a:r>
              <a:rPr lang="pl-PL" b="1" ker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gdzie będzie to możliwe.</a:t>
            </a:r>
            <a:endParaRPr lang="pl-PL" sz="1800" b="1" kern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pl-PL" kern="0">
              <a:latin typeface="Times New Roman" panose="02020603050405020304" pitchFamily="18" charset="0"/>
            </a:endParaRPr>
          </a:p>
          <a:p>
            <a:r>
              <a:rPr lang="pl-PL">
                <a:solidFill>
                  <a:schemeClr val="accent6"/>
                </a:solidFill>
              </a:rPr>
              <a:t>4 zweryfikowanych kandydatów dziennie per </a:t>
            </a:r>
            <a:r>
              <a:rPr lang="pl-PL" err="1">
                <a:solidFill>
                  <a:schemeClr val="accent6"/>
                </a:solidFill>
              </a:rPr>
              <a:t>Sourcer</a:t>
            </a:r>
            <a:r>
              <a:rPr lang="pl-PL">
                <a:solidFill>
                  <a:schemeClr val="accent6"/>
                </a:solidFill>
              </a:rPr>
              <a:t> -&gt; wyciąga Kinga Sordyl  z </a:t>
            </a:r>
            <a:r>
              <a:rPr lang="pl-PL" err="1">
                <a:solidFill>
                  <a:schemeClr val="accent6"/>
                </a:solidFill>
              </a:rPr>
              <a:t>Traffit</a:t>
            </a:r>
            <a:r>
              <a:rPr lang="pl-PL">
                <a:solidFill>
                  <a:schemeClr val="accent6"/>
                </a:solidFill>
              </a:rPr>
              <a:t> -&gt; wykonane</a:t>
            </a:r>
          </a:p>
          <a:p>
            <a:endParaRPr lang="pl-PL"/>
          </a:p>
          <a:p>
            <a:r>
              <a:rPr lang="pl-PL">
                <a:solidFill>
                  <a:schemeClr val="accent6"/>
                </a:solidFill>
              </a:rPr>
              <a:t>100% </a:t>
            </a:r>
            <a:r>
              <a:rPr lang="pl-PL" err="1">
                <a:solidFill>
                  <a:schemeClr val="accent6"/>
                </a:solidFill>
              </a:rPr>
              <a:t>raportow</a:t>
            </a:r>
            <a:r>
              <a:rPr lang="pl-PL">
                <a:solidFill>
                  <a:schemeClr val="accent6"/>
                </a:solidFill>
              </a:rPr>
              <a:t> do DL tego samego dnia -&gt; Dominik dołącza do </a:t>
            </a:r>
            <a:r>
              <a:rPr lang="pl-PL" err="1">
                <a:solidFill>
                  <a:schemeClr val="accent6"/>
                </a:solidFill>
              </a:rPr>
              <a:t>Daily</a:t>
            </a:r>
            <a:r>
              <a:rPr lang="pl-PL">
                <a:solidFill>
                  <a:schemeClr val="accent6"/>
                </a:solidFill>
              </a:rPr>
              <a:t> i zbiera zagrożenia -&gt; wykonane</a:t>
            </a:r>
          </a:p>
          <a:p>
            <a:endParaRPr lang="pl-PL">
              <a:solidFill>
                <a:schemeClr val="accent6"/>
              </a:solidFill>
            </a:endParaRPr>
          </a:p>
          <a:p>
            <a:r>
              <a:rPr lang="pl-PL">
                <a:solidFill>
                  <a:schemeClr val="accent6"/>
                </a:solidFill>
              </a:rPr>
              <a:t>100% </a:t>
            </a:r>
            <a:r>
              <a:rPr lang="pl-PL" err="1">
                <a:solidFill>
                  <a:schemeClr val="accent6"/>
                </a:solidFill>
              </a:rPr>
              <a:t>coverage</a:t>
            </a:r>
            <a:r>
              <a:rPr lang="pl-PL">
                <a:solidFill>
                  <a:schemeClr val="accent6"/>
                </a:solidFill>
              </a:rPr>
              <a:t> (każda rekrutacja ma ogłoszenie) -&gt; dodanie Zosi do </a:t>
            </a:r>
            <a:r>
              <a:rPr lang="pl-PL" err="1">
                <a:solidFill>
                  <a:schemeClr val="accent6"/>
                </a:solidFill>
              </a:rPr>
              <a:t>aliasa</a:t>
            </a:r>
            <a:r>
              <a:rPr lang="pl-PL">
                <a:solidFill>
                  <a:schemeClr val="accent6"/>
                </a:solidFill>
              </a:rPr>
              <a:t> HR/</a:t>
            </a:r>
            <a:r>
              <a:rPr lang="pl-PL" err="1">
                <a:solidFill>
                  <a:schemeClr val="accent6"/>
                </a:solidFill>
              </a:rPr>
              <a:t>Sourcer</a:t>
            </a:r>
            <a:r>
              <a:rPr lang="pl-PL">
                <a:solidFill>
                  <a:schemeClr val="accent6"/>
                </a:solidFill>
              </a:rPr>
              <a:t>, która sprawdza pod koniec dnia czy wszystkie ogłoszenia z danego dnia zostały dodane na pracuj. -&gt; wykonane</a:t>
            </a:r>
            <a:endParaRPr lang="pl-PL"/>
          </a:p>
          <a:p>
            <a:endParaRPr lang="pl-PL"/>
          </a:p>
          <a:p>
            <a:r>
              <a:rPr lang="pl-PL">
                <a:solidFill>
                  <a:schemeClr val="accent6"/>
                </a:solidFill>
              </a:rPr>
              <a:t>5 </a:t>
            </a:r>
            <a:r>
              <a:rPr lang="pl-PL" err="1">
                <a:solidFill>
                  <a:schemeClr val="accent6"/>
                </a:solidFill>
              </a:rPr>
              <a:t>osob</a:t>
            </a:r>
            <a:r>
              <a:rPr lang="pl-PL">
                <a:solidFill>
                  <a:schemeClr val="accent6"/>
                </a:solidFill>
              </a:rPr>
              <a:t> nowych dodanych do bazy dziennie -&gt; Kinga Sordyl wyciąga z </a:t>
            </a:r>
            <a:r>
              <a:rPr lang="pl-PL" err="1">
                <a:solidFill>
                  <a:schemeClr val="accent6"/>
                </a:solidFill>
              </a:rPr>
              <a:t>Traffit</a:t>
            </a:r>
            <a:r>
              <a:rPr lang="pl-PL">
                <a:solidFill>
                  <a:schemeClr val="accent6"/>
                </a:solidFill>
              </a:rPr>
              <a:t> w cyklach tygodniowych -&gt; wykonane</a:t>
            </a:r>
          </a:p>
          <a:p>
            <a:endParaRPr lang="pl-PL"/>
          </a:p>
          <a:p>
            <a:r>
              <a:rPr lang="pl-PL">
                <a:solidFill>
                  <a:schemeClr val="accent6"/>
                </a:solidFill>
              </a:rPr>
              <a:t>100% </a:t>
            </a:r>
            <a:r>
              <a:rPr lang="pl-PL" err="1">
                <a:solidFill>
                  <a:schemeClr val="accent6"/>
                </a:solidFill>
              </a:rPr>
              <a:t>raportow</a:t>
            </a:r>
            <a:r>
              <a:rPr lang="pl-PL">
                <a:solidFill>
                  <a:schemeClr val="accent6"/>
                </a:solidFill>
              </a:rPr>
              <a:t> do DL tego samego dnia (Rekruter i </a:t>
            </a:r>
            <a:r>
              <a:rPr lang="pl-PL" err="1">
                <a:solidFill>
                  <a:schemeClr val="accent6"/>
                </a:solidFill>
              </a:rPr>
              <a:t>Sourcer</a:t>
            </a:r>
            <a:r>
              <a:rPr lang="pl-PL">
                <a:solidFill>
                  <a:schemeClr val="accent6"/>
                </a:solidFill>
              </a:rPr>
              <a:t>) DL -&gt; </a:t>
            </a:r>
            <a:r>
              <a:rPr lang="pl-PL" err="1">
                <a:solidFill>
                  <a:schemeClr val="accent6"/>
                </a:solidFill>
              </a:rPr>
              <a:t>wining</a:t>
            </a:r>
            <a:r>
              <a:rPr lang="pl-PL">
                <a:solidFill>
                  <a:schemeClr val="accent6"/>
                </a:solidFill>
              </a:rPr>
              <a:t> </a:t>
            </a:r>
            <a:r>
              <a:rPr lang="pl-PL" err="1">
                <a:solidFill>
                  <a:schemeClr val="accent6"/>
                </a:solidFill>
              </a:rPr>
              <a:t>strategy</a:t>
            </a:r>
            <a:r>
              <a:rPr lang="pl-PL">
                <a:solidFill>
                  <a:schemeClr val="accent6"/>
                </a:solidFill>
              </a:rPr>
              <a:t> w profilu championa. Wstępny feedback od </a:t>
            </a:r>
            <a:r>
              <a:rPr lang="pl-PL" err="1">
                <a:solidFill>
                  <a:schemeClr val="accent6"/>
                </a:solidFill>
              </a:rPr>
              <a:t>Sourcera</a:t>
            </a:r>
            <a:r>
              <a:rPr lang="pl-PL">
                <a:solidFill>
                  <a:schemeClr val="accent6"/>
                </a:solidFill>
              </a:rPr>
              <a:t> i </a:t>
            </a:r>
            <a:r>
              <a:rPr lang="pl-PL" err="1">
                <a:solidFill>
                  <a:schemeClr val="accent6"/>
                </a:solidFill>
              </a:rPr>
              <a:t>Rekrutera</a:t>
            </a:r>
            <a:r>
              <a:rPr lang="pl-PL">
                <a:solidFill>
                  <a:schemeClr val="accent6"/>
                </a:solidFill>
              </a:rPr>
              <a:t> i </a:t>
            </a:r>
            <a:r>
              <a:rPr lang="pl-PL" err="1">
                <a:solidFill>
                  <a:schemeClr val="accent6"/>
                </a:solidFill>
              </a:rPr>
              <a:t>action</a:t>
            </a:r>
            <a:r>
              <a:rPr lang="pl-PL">
                <a:solidFill>
                  <a:schemeClr val="accent6"/>
                </a:solidFill>
              </a:rPr>
              <a:t> plan na znalezienie kandydatów.   -&gt; Dominik update profilu championa -&gt; wykonane</a:t>
            </a:r>
          </a:p>
          <a:p>
            <a:endParaRPr lang="pl-PL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01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8816F-F903-636C-8BF2-808B2F8B1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8AC5C-2E42-DBC2-6AE8-550ABE0E3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82" y="407944"/>
            <a:ext cx="11780604" cy="1325563"/>
          </a:xfrm>
        </p:spPr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3. Candidate Qualification (Screening to CV Template) </a:t>
            </a:r>
            <a:endParaRPr lang="en-US">
              <a:latin typeface="Aptos Display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13D0C3-9D54-87A3-612B-0AC7A715B4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9364330"/>
              </p:ext>
            </p:extLst>
          </p:nvPr>
        </p:nvGraphicFramePr>
        <p:xfrm>
          <a:off x="838199" y="3429000"/>
          <a:ext cx="10269513" cy="171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2964">
                  <a:extLst>
                    <a:ext uri="{9D8B030D-6E8A-4147-A177-3AD203B41FA5}">
                      <a16:colId xmlns:a16="http://schemas.microsoft.com/office/drawing/2014/main" val="1891426940"/>
                    </a:ext>
                  </a:extLst>
                </a:gridCol>
                <a:gridCol w="1551092">
                  <a:extLst>
                    <a:ext uri="{9D8B030D-6E8A-4147-A177-3AD203B41FA5}">
                      <a16:colId xmlns:a16="http://schemas.microsoft.com/office/drawing/2014/main" val="1100671856"/>
                    </a:ext>
                  </a:extLst>
                </a:gridCol>
                <a:gridCol w="3275457">
                  <a:extLst>
                    <a:ext uri="{9D8B030D-6E8A-4147-A177-3AD203B41FA5}">
                      <a16:colId xmlns:a16="http://schemas.microsoft.com/office/drawing/2014/main" val="882654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649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Tworzenie</a:t>
                      </a:r>
                      <a:r>
                        <a:rPr lang="en-US"/>
                        <a:t> CV </a:t>
                      </a:r>
                      <a:r>
                        <a:rPr lang="en-US" err="1"/>
                        <a:t>na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firmowym</a:t>
                      </a:r>
                      <a:r>
                        <a:rPr lang="en-US"/>
                        <a:t> template. </a:t>
                      </a:r>
                      <a:r>
                        <a:rPr lang="en-US" err="1"/>
                        <a:t>Jakosciowe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wypełnienie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sekcji</a:t>
                      </a:r>
                      <a:r>
                        <a:rPr lang="en-US"/>
                        <a:t> “why our candidate”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Sourcer</a:t>
                      </a:r>
                      <a:r>
                        <a:rPr lang="en-US"/>
                        <a:t> or TAC or </a:t>
                      </a:r>
                      <a:r>
                        <a:rPr lang="en-US" err="1"/>
                        <a:t>Rekruter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0C0"/>
                          </a:solidFill>
                        </a:rPr>
                        <a:t>CQ-01: CV Template Completion Rate</a:t>
                      </a:r>
                    </a:p>
                    <a:p>
                      <a:br>
                        <a:rPr/>
                      </a:br>
                      <a:r>
                        <a:t>100% </a:t>
                      </a:r>
                      <a:r>
                        <a:rPr err="1"/>
                        <a:t>kandyatów</a:t>
                      </a:r>
                      <a:r>
                        <a:t> </a:t>
                      </a:r>
                      <a:r>
                        <a:rPr err="1"/>
                        <a:t>na</a:t>
                      </a:r>
                      <a:r>
                        <a:t> stage </a:t>
                      </a:r>
                      <a:r>
                        <a:rPr err="1"/>
                        <a:t>zweryfikowany</a:t>
                      </a:r>
                      <a:r>
                        <a:t> ma </a:t>
                      </a:r>
                      <a:r>
                        <a:rPr err="1"/>
                        <a:t>zrobione</a:t>
                      </a:r>
                      <a:r>
                        <a:t> </a:t>
                      </a:r>
                      <a:r>
                        <a:rPr err="1"/>
                        <a:t>jakosciowe</a:t>
                      </a:r>
                      <a:r>
                        <a:t> CV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05785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4528785-8B1E-7E48-DE8E-B4F6E1044D3D}"/>
              </a:ext>
            </a:extLst>
          </p:cNvPr>
          <p:cNvSpPr txBox="1"/>
          <p:nvPr/>
        </p:nvSpPr>
        <p:spPr>
          <a:xfrm>
            <a:off x="838199" y="1733507"/>
            <a:ext cx="94786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</a:t>
            </a:r>
            <a:r>
              <a:rPr lang="pl-PL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/>
              <a:t>Standaryzacja i przygotowanie profilu do prezentacji klientowi.</a:t>
            </a:r>
            <a:r>
              <a:rPr lang="en-US"/>
              <a:t> 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pl-PL" sz="1800" b="1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Outcome</a:t>
            </a:r>
            <a:r>
              <a:rPr lang="pl-PL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/>
              <a:t>CV w </a:t>
            </a:r>
            <a:r>
              <a:rPr lang="en-US" err="1"/>
              <a:t>formacie</a:t>
            </a:r>
            <a:r>
              <a:rPr lang="en-US"/>
              <a:t> B2B.Net. 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57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1C7FE-50C1-47B6-4187-74ECFF106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64850-12BC-44EC-733C-C57B9C04A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82" y="407944"/>
            <a:ext cx="11780604" cy="1325563"/>
          </a:xfrm>
        </p:spPr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3. Candidate Qualification (Screening to CV Template) </a:t>
            </a:r>
            <a:endParaRPr lang="en-US">
              <a:latin typeface="Aptos Displa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C18885-54F4-5665-3926-56239A56BF4C}"/>
              </a:ext>
            </a:extLst>
          </p:cNvPr>
          <p:cNvSpPr txBox="1"/>
          <p:nvPr/>
        </p:nvSpPr>
        <p:spPr>
          <a:xfrm>
            <a:off x="600082" y="2305680"/>
            <a:ext cx="61022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kern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Improvement</a:t>
            </a:r>
            <a:r>
              <a:rPr lang="pl-PL" b="1" kern="0">
                <a:latin typeface="Times New Roman" panose="02020603050405020304" pitchFamily="18" charset="0"/>
                <a:ea typeface="Times New Roman" panose="02020603050405020304" pitchFamily="18" charset="0"/>
              </a:rPr>
              <a:t> Plan:</a:t>
            </a:r>
          </a:p>
          <a:p>
            <a:r>
              <a:rPr lang="pl-PL" b="1" ker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System do tworzenia szablonu -&gt; wykonane. Faza testów. </a:t>
            </a:r>
            <a:br>
              <a:rPr lang="pl-PL" sz="1800" kern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228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50F5D-F462-C489-DBDD-43E6739C1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4236A-33BF-4E5E-E58D-2FBAEBBB2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707" y="145327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4. Client Submission (CV Template to Recommendation)</a:t>
            </a:r>
            <a:endParaRPr lang="en-US">
              <a:latin typeface="Aptos Display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1529C3-B496-B38D-C983-486199FABF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1349046"/>
              </p:ext>
            </p:extLst>
          </p:nvPr>
        </p:nvGraphicFramePr>
        <p:xfrm>
          <a:off x="869430" y="2180152"/>
          <a:ext cx="9965877" cy="604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2033">
                  <a:extLst>
                    <a:ext uri="{9D8B030D-6E8A-4147-A177-3AD203B41FA5}">
                      <a16:colId xmlns:a16="http://schemas.microsoft.com/office/drawing/2014/main" val="1891426940"/>
                    </a:ext>
                  </a:extLst>
                </a:gridCol>
                <a:gridCol w="1505232">
                  <a:extLst>
                    <a:ext uri="{9D8B030D-6E8A-4147-A177-3AD203B41FA5}">
                      <a16:colId xmlns:a16="http://schemas.microsoft.com/office/drawing/2014/main" val="1100671856"/>
                    </a:ext>
                  </a:extLst>
                </a:gridCol>
                <a:gridCol w="3178612">
                  <a:extLst>
                    <a:ext uri="{9D8B030D-6E8A-4147-A177-3AD203B41FA5}">
                      <a16:colId xmlns:a16="http://schemas.microsoft.com/office/drawing/2014/main" val="882654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649688"/>
                  </a:ext>
                </a:extLst>
              </a:tr>
              <a:tr h="326091">
                <a:tc>
                  <a:txBody>
                    <a:bodyPr/>
                    <a:lstStyle/>
                    <a:p>
                      <a:pPr lvl="0"/>
                      <a:r>
                        <a:rPr lang="en-US" sz="18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Selekcja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CV </a:t>
                      </a:r>
                      <a:r>
                        <a:rPr lang="en-US" sz="18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wysyłki</a:t>
                      </a:r>
                      <a:endParaRPr lang="en-US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0C0"/>
                          </a:solidFill>
                        </a:rPr>
                        <a:t>CS-01: Rejection Justification Timeliness</a:t>
                      </a:r>
                    </a:p>
                    <a:p>
                      <a:r>
                        <a:rPr err="1"/>
                        <a:t>Uzasadnienie</a:t>
                      </a:r>
                      <a:r>
                        <a:t> </a:t>
                      </a:r>
                      <a:r>
                        <a:rPr err="1"/>
                        <a:t>każdego</a:t>
                      </a:r>
                      <a:r>
                        <a:t> </a:t>
                      </a:r>
                      <a:r>
                        <a:rPr err="1"/>
                        <a:t>odrzuconego</a:t>
                      </a:r>
                      <a:r>
                        <a:t> </a:t>
                      </a:r>
                      <a:r>
                        <a:rPr err="1"/>
                        <a:t>zweryfikowanego</a:t>
                      </a:r>
                      <a:r>
                        <a:t> </a:t>
                      </a:r>
                      <a:r>
                        <a:rPr err="1"/>
                        <a:t>kandydata</a:t>
                      </a:r>
                      <a:r>
                        <a:t>:</a:t>
                      </a:r>
                      <a:br>
                        <a:rPr/>
                      </a:br>
                      <a:r>
                        <a:rPr err="1"/>
                        <a:t>Przetarg</a:t>
                      </a:r>
                      <a:r>
                        <a:t>/</a:t>
                      </a:r>
                      <a:r>
                        <a:rPr err="1"/>
                        <a:t>dealine</a:t>
                      </a:r>
                      <a:r>
                        <a:t> – do 24h po </a:t>
                      </a:r>
                      <a:r>
                        <a:rPr err="1"/>
                        <a:t>dealine</a:t>
                      </a:r>
                      <a:br>
                        <a:rPr/>
                      </a:br>
                      <a:r>
                        <a:t>W </a:t>
                      </a:r>
                      <a:r>
                        <a:rPr err="1"/>
                        <a:t>innych</a:t>
                      </a:r>
                      <a:r>
                        <a:t> </a:t>
                      </a:r>
                      <a:r>
                        <a:rPr err="1"/>
                        <a:t>przypadkach</a:t>
                      </a:r>
                      <a:r>
                        <a:t> – </a:t>
                      </a:r>
                      <a:r>
                        <a:rPr err="1"/>
                        <a:t>tego</a:t>
                      </a:r>
                      <a:r>
                        <a:t> </a:t>
                      </a:r>
                      <a:r>
                        <a:rPr err="1"/>
                        <a:t>samego</a:t>
                      </a:r>
                      <a:r>
                        <a:t> </a:t>
                      </a:r>
                      <a:r>
                        <a:rPr err="1"/>
                        <a:t>dnia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057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Weryfikacja techniczna: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pl-PL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Obligatoryjna - przy limicie CV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pl-PL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Opcjonalna – przy braku limitu, decyzja DL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0C0"/>
                          </a:solidFill>
                        </a:rPr>
                        <a:t>CS-02: Technical Verification Rate</a:t>
                      </a:r>
                    </a:p>
                    <a:p>
                      <a:br>
                        <a:rPr/>
                      </a:br>
                      <a:r>
                        <a:rPr err="1"/>
                        <a:t>Przy</a:t>
                      </a:r>
                      <a:r>
                        <a:t> </a:t>
                      </a:r>
                      <a:r>
                        <a:rPr err="1"/>
                        <a:t>limicie</a:t>
                      </a:r>
                      <a:r>
                        <a:t> CV 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770462"/>
                  </a:ext>
                </a:extLst>
              </a:tr>
              <a:tr h="360273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err="1"/>
                        <a:t>Opcjonalnie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umowa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przedwstępna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zależnie</a:t>
                      </a:r>
                      <a:r>
                        <a:rPr lang="en-US"/>
                        <a:t> od </a:t>
                      </a:r>
                      <a:r>
                        <a:rPr lang="en-US" err="1"/>
                        <a:t>decyzji</a:t>
                      </a:r>
                      <a:r>
                        <a:rPr lang="en-US"/>
                        <a:t> 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 or R or 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644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Rekomendacja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kandydatów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do </a:t>
                      </a:r>
                      <a:r>
                        <a:rPr lang="en-US" sz="18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klienta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z </a:t>
                      </a:r>
                      <a:r>
                        <a:rPr lang="en-US" sz="18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emailem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wyszczególniającym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championa</a:t>
                      </a:r>
                      <a:r>
                        <a:rPr lang="en-US">
                          <a:effectLst/>
                        </a:rPr>
                        <a:t>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0C0"/>
                          </a:solidFill>
                        </a:rPr>
                        <a:t>CS-03: Champion </a:t>
                      </a:r>
                      <a:r>
                        <a:rPr lang="pl-PL" sz="1000" b="1" err="1">
                          <a:solidFill>
                            <a:srgbClr val="0070C0"/>
                          </a:solidFill>
                        </a:rPr>
                        <a:t>advertizement</a:t>
                      </a:r>
                      <a:r>
                        <a:rPr lang="pl-PL" sz="1000" b="1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pl-PL" sz="1000" b="1" err="1">
                          <a:solidFill>
                            <a:srgbClr val="0070C0"/>
                          </a:solidFill>
                        </a:rPr>
                        <a:t>rate</a:t>
                      </a:r>
                      <a:endParaRPr sz="1000" b="1">
                        <a:solidFill>
                          <a:srgbClr val="0070C0"/>
                        </a:solidFill>
                      </a:endParaRPr>
                    </a:p>
                    <a:p>
                      <a:br>
                        <a:rPr/>
                      </a:br>
                      <a: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505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Rejestrowanie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feedbacku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od </a:t>
                      </a:r>
                      <a:r>
                        <a:rPr lang="en-US" sz="18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klienta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8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borowanie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578491"/>
                  </a:ext>
                </a:extLst>
              </a:tr>
              <a:tr h="6275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Follow up z </a:t>
                      </a:r>
                      <a:r>
                        <a:rPr lang="en-US" sz="18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kandydatem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minimum co 2 </a:t>
                      </a:r>
                      <a:r>
                        <a:rPr lang="en-US" sz="18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tygodnie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 or R or 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0C0"/>
                          </a:solidFill>
                        </a:rPr>
                        <a:t>CS-04: Candidate Follow-up Frequency</a:t>
                      </a:r>
                    </a:p>
                    <a:p>
                      <a:br>
                        <a:rPr/>
                      </a:br>
                      <a: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96909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BD1C9CF-8CAD-9B42-1B57-D99B5F5F1C01}"/>
              </a:ext>
            </a:extLst>
          </p:cNvPr>
          <p:cNvSpPr txBox="1"/>
          <p:nvPr/>
        </p:nvSpPr>
        <p:spPr>
          <a:xfrm>
            <a:off x="319707" y="1470890"/>
            <a:ext cx="94786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</a:t>
            </a:r>
            <a:r>
              <a:rPr lang="pl-PL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/>
              <a:t>Prezentacja dopasowanych kandydatów klientowi.</a:t>
            </a:r>
            <a:r>
              <a:rPr lang="en-US"/>
              <a:t> 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pl-PL" sz="1800" b="1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Outcome</a:t>
            </a:r>
            <a:r>
              <a:rPr lang="pl-PL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/>
              <a:t>Wysłane rekomendacje.</a:t>
            </a:r>
            <a:r>
              <a:rPr lang="en-US"/>
              <a:t> 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137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24FC4-FCDF-F9CD-42BA-FBA74C68C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89967-EA77-FE90-E9B4-56CBE5170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4. Client Submission (CV Template to Recommendation)</a:t>
            </a:r>
            <a:endParaRPr lang="en-US">
              <a:latin typeface="Aptos Displa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B31E2D-D585-456D-A894-49A4D7C43216}"/>
              </a:ext>
            </a:extLst>
          </p:cNvPr>
          <p:cNvSpPr txBox="1"/>
          <p:nvPr/>
        </p:nvSpPr>
        <p:spPr>
          <a:xfrm>
            <a:off x="707570" y="2119727"/>
            <a:ext cx="610222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kern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Improvement</a:t>
            </a:r>
            <a:r>
              <a:rPr lang="pl-PL" b="1" kern="0">
                <a:latin typeface="Times New Roman" panose="02020603050405020304" pitchFamily="18" charset="0"/>
                <a:ea typeface="Times New Roman" panose="02020603050405020304" pitchFamily="18" charset="0"/>
              </a:rPr>
              <a:t> Plan:</a:t>
            </a:r>
          </a:p>
          <a:p>
            <a:endParaRPr lang="pl-PL" b="1" ker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pl-PL">
                <a:solidFill>
                  <a:schemeClr val="accent6"/>
                </a:solidFill>
              </a:rPr>
              <a:t>Weryfikacja techniczna -&gt; Kinga weryfikuje w swojej tabelce czy w opisanej sytuacji weryfikacja faktycznie się odbyła - &gt; wykonane</a:t>
            </a:r>
          </a:p>
          <a:p>
            <a:pPr marL="285750" indent="-285750" algn="ctr">
              <a:buFontTx/>
              <a:buChar char="-"/>
            </a:pPr>
            <a:r>
              <a:rPr lang="pl-PL">
                <a:solidFill>
                  <a:schemeClr val="accent6"/>
                </a:solidFill>
              </a:rPr>
              <a:t>Obligatoryjna - przy limicie CV</a:t>
            </a:r>
          </a:p>
          <a:p>
            <a:pPr marL="285750" indent="-285750" algn="ctr">
              <a:buFontTx/>
              <a:buChar char="-"/>
            </a:pPr>
            <a:r>
              <a:rPr lang="pl-PL">
                <a:solidFill>
                  <a:schemeClr val="accent6"/>
                </a:solidFill>
              </a:rPr>
              <a:t>Opcjonalna – przy braku limitu, decyzja DL</a:t>
            </a:r>
          </a:p>
          <a:p>
            <a:pPr marL="285750" indent="-285750" algn="ctr">
              <a:buFontTx/>
              <a:buChar char="-"/>
            </a:pPr>
            <a:endParaRPr lang="pl-PL">
              <a:solidFill>
                <a:schemeClr val="dk1"/>
              </a:solidFill>
            </a:endParaRPr>
          </a:p>
          <a:p>
            <a:pPr marL="285750" indent="-285750" algn="ctr">
              <a:buFontTx/>
              <a:buChar char="-"/>
            </a:pPr>
            <a:r>
              <a:rPr lang="en-US">
                <a:solidFill>
                  <a:srgbClr val="FF0000"/>
                </a:solidFill>
              </a:rPr>
              <a:t>Follow up z </a:t>
            </a:r>
            <a:r>
              <a:rPr lang="en-US" err="1">
                <a:solidFill>
                  <a:srgbClr val="FF0000"/>
                </a:solidFill>
              </a:rPr>
              <a:t>kandydatem</a:t>
            </a:r>
            <a:r>
              <a:rPr lang="en-US">
                <a:solidFill>
                  <a:srgbClr val="FF0000"/>
                </a:solidFill>
              </a:rPr>
              <a:t> minimum co 2 </a:t>
            </a:r>
            <a:r>
              <a:rPr lang="en-US" err="1">
                <a:solidFill>
                  <a:srgbClr val="FF0000"/>
                </a:solidFill>
              </a:rPr>
              <a:t>tygodnie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pl-PL">
                <a:solidFill>
                  <a:srgbClr val="FF0000"/>
                </a:solidFill>
              </a:rPr>
              <a:t>-&gt; automatyczne zliczanie notatki z frazą „</a:t>
            </a:r>
            <a:r>
              <a:rPr lang="pl-PL" err="1">
                <a:solidFill>
                  <a:srgbClr val="FF0000"/>
                </a:solidFill>
              </a:rPr>
              <a:t>follow</a:t>
            </a:r>
            <a:r>
              <a:rPr lang="pl-PL">
                <a:solidFill>
                  <a:srgbClr val="FF0000"/>
                </a:solidFill>
              </a:rPr>
              <a:t> </a:t>
            </a:r>
            <a:r>
              <a:rPr lang="pl-PL" err="1">
                <a:solidFill>
                  <a:srgbClr val="FF0000"/>
                </a:solidFill>
              </a:rPr>
              <a:t>up</a:t>
            </a:r>
            <a:r>
              <a:rPr lang="pl-PL">
                <a:solidFill>
                  <a:srgbClr val="FF0000"/>
                </a:solidFill>
              </a:rPr>
              <a:t>” na kształt zliczania stawki przychodowej / kosztowej -&gt; Olaf wprowadzenie, Kinga raport -&gt; decyzja o rezygnacji z pomysłu z uwagi na dodatkowe koszty w </a:t>
            </a:r>
            <a:r>
              <a:rPr lang="pl-PL" err="1">
                <a:solidFill>
                  <a:srgbClr val="FF0000"/>
                </a:solidFill>
              </a:rPr>
              <a:t>Traffit</a:t>
            </a:r>
            <a:r>
              <a:rPr lang="pl-PL">
                <a:solidFill>
                  <a:srgbClr val="FF0000"/>
                </a:solidFill>
              </a:rPr>
              <a:t>. Idziemy w kierunku zmiany </a:t>
            </a:r>
            <a:r>
              <a:rPr lang="pl-PL" err="1">
                <a:solidFill>
                  <a:srgbClr val="FF0000"/>
                </a:solidFill>
              </a:rPr>
              <a:t>ATSa</a:t>
            </a:r>
            <a:endParaRPr lang="en-US">
              <a:solidFill>
                <a:srgbClr val="FF0000"/>
              </a:solidFill>
            </a:endParaRPr>
          </a:p>
          <a:p>
            <a:pPr marL="285750" indent="-285750" algn="ctr">
              <a:buFontTx/>
              <a:buChar char="-"/>
            </a:pPr>
            <a:endParaRPr lang="en-US">
              <a:solidFill>
                <a:srgbClr val="FF0000"/>
              </a:solidFill>
            </a:endParaRPr>
          </a:p>
          <a:p>
            <a:r>
              <a:rPr lang="pl-PL" b="1" ker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9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92DA1-3D88-B19B-4A93-0CB635B7B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529FD-6C19-FD42-9ACB-1369C30CD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5. Interview Management (Recommendation to Interview) </a:t>
            </a:r>
            <a:endParaRPr lang="en-US">
              <a:latin typeface="Aptos Display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B42F61-377D-047F-885F-C952FC9A9C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163423"/>
              </p:ext>
            </p:extLst>
          </p:nvPr>
        </p:nvGraphicFramePr>
        <p:xfrm>
          <a:off x="589935" y="2733426"/>
          <a:ext cx="10583984" cy="576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7476">
                  <a:extLst>
                    <a:ext uri="{9D8B030D-6E8A-4147-A177-3AD203B41FA5}">
                      <a16:colId xmlns:a16="http://schemas.microsoft.com/office/drawing/2014/main" val="1891426940"/>
                    </a:ext>
                  </a:extLst>
                </a:gridCol>
                <a:gridCol w="3137754">
                  <a:extLst>
                    <a:ext uri="{9D8B030D-6E8A-4147-A177-3AD203B41FA5}">
                      <a16:colId xmlns:a16="http://schemas.microsoft.com/office/drawing/2014/main" val="1100671856"/>
                    </a:ext>
                  </a:extLst>
                </a:gridCol>
                <a:gridCol w="1528754">
                  <a:extLst>
                    <a:ext uri="{9D8B030D-6E8A-4147-A177-3AD203B41FA5}">
                      <a16:colId xmlns:a16="http://schemas.microsoft.com/office/drawing/2014/main" val="882654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649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Koordynacja terminów rozmów z klientem.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DL &amp; TAC </a:t>
                      </a:r>
                      <a:r>
                        <a:rPr lang="en-US" err="1"/>
                        <a:t>lub</a:t>
                      </a:r>
                      <a:r>
                        <a:rPr lang="en-US"/>
                        <a:t> R </a:t>
                      </a:r>
                      <a:r>
                        <a:rPr lang="en-US" err="1"/>
                        <a:t>lub</a:t>
                      </a:r>
                      <a:r>
                        <a:rPr lang="en-US"/>
                        <a:t>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0C0"/>
                          </a:solidFill>
                        </a:rPr>
                        <a:t>IM-01: Interview Coordination Rate</a:t>
                      </a:r>
                    </a:p>
                    <a:p>
                      <a:br>
                        <a:rPr/>
                      </a:br>
                      <a: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057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Delivery Lead </a:t>
                      </a: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organizuje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prep call z </a:t>
                      </a: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kandydatem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DL &amp; TAC </a:t>
                      </a:r>
                      <a:r>
                        <a:rPr lang="en-US" err="1"/>
                        <a:t>lub</a:t>
                      </a:r>
                      <a:r>
                        <a:rPr lang="en-US"/>
                        <a:t> R </a:t>
                      </a:r>
                      <a:r>
                        <a:rPr lang="en-US" err="1"/>
                        <a:t>lub</a:t>
                      </a:r>
                      <a:r>
                        <a:rPr lang="en-US"/>
                        <a:t>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0C0"/>
                          </a:solidFill>
                        </a:rPr>
                        <a:t>IM-02: Prep Call Completion Rate</a:t>
                      </a:r>
                    </a:p>
                    <a:p>
                      <a:br>
                        <a:rPr/>
                      </a:br>
                      <a: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770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Interview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właściwy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: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uczestnistwo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i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zbieranie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pytań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0C0"/>
                          </a:solidFill>
                        </a:rPr>
                        <a:t>IM-03: DL Interview Attendance Rate</a:t>
                      </a:r>
                    </a:p>
                    <a:p>
                      <a:br>
                        <a:rPr/>
                      </a:br>
                      <a: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505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Zbieranie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feedback od </a:t>
                      </a: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klienta</a:t>
                      </a: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0C0"/>
                          </a:solidFill>
                        </a:rPr>
                        <a:t>IM-04: Post-Interview Feedback Completion Rate</a:t>
                      </a:r>
                    </a:p>
                    <a:p>
                      <a:br>
                        <a:rPr/>
                      </a:br>
                      <a: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578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Zbieranie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feedback od </a:t>
                      </a: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kandydata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 </a:t>
                      </a: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Ogólny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feedback po interview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alibri"/>
                        <a:buChar char="-"/>
                        <a:tabLst/>
                        <a:defRPr/>
                      </a:pP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Czy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przyjąłby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ofertę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potencjalnie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?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alibri"/>
                        <a:buChar char="-"/>
                        <a:tabLst/>
                        <a:defRPr/>
                      </a:pP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Jakie </a:t>
                      </a: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były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pytania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?</a:t>
                      </a:r>
                      <a:endParaRPr lang="pl-PL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TAC </a:t>
                      </a:r>
                      <a:r>
                        <a:rPr lang="en-US" err="1"/>
                        <a:t>lub</a:t>
                      </a:r>
                      <a:r>
                        <a:rPr lang="en-US"/>
                        <a:t> R </a:t>
                      </a:r>
                      <a:r>
                        <a:rPr lang="en-US" err="1"/>
                        <a:t>lub</a:t>
                      </a:r>
                      <a:r>
                        <a:rPr lang="en-US"/>
                        <a:t>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000" b="1" kern="120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IM-05: Feedback </a:t>
                      </a:r>
                      <a:r>
                        <a:rPr lang="pl-PL" sz="1000" b="1" kern="120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after</a:t>
                      </a:r>
                      <a:r>
                        <a:rPr lang="pl-PL" sz="1000" b="1" kern="120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interview from the </a:t>
                      </a:r>
                      <a:r>
                        <a:rPr lang="pl-PL" sz="1000" b="1" kern="120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candiate</a:t>
                      </a:r>
                      <a:endParaRPr lang="pl-PL" sz="1000" b="1" kern="120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/>
                        <a:t>100%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96909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30D0E4D-0490-E133-3ED7-5D745ABB058C}"/>
              </a:ext>
            </a:extLst>
          </p:cNvPr>
          <p:cNvSpPr txBox="1"/>
          <p:nvPr/>
        </p:nvSpPr>
        <p:spPr>
          <a:xfrm>
            <a:off x="1018081" y="1810096"/>
            <a:ext cx="94786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</a:t>
            </a:r>
            <a:r>
              <a:rPr lang="pl-PL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/>
              <a:t>Skuteczne przygotowanie kandydata do rozmowy.</a:t>
            </a:r>
            <a:r>
              <a:rPr lang="en-US"/>
              <a:t> 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pl-PL" sz="1800" b="1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Outcome</a:t>
            </a:r>
            <a:r>
              <a:rPr lang="pl-PL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/>
              <a:t>Odbyte interview i feedback z obu stron.</a:t>
            </a:r>
            <a:r>
              <a:rPr lang="en-US"/>
              <a:t> 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84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D187D-6469-B05F-6CB3-D7292B2D0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C4254-BCE9-1F2D-8A42-DBD68C11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5. Interview Management (Recommendation to Interview) </a:t>
            </a:r>
            <a:endParaRPr lang="en-US">
              <a:latin typeface="Aptos Display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8D87E-1283-CD5F-3437-30C69A6C0298}"/>
              </a:ext>
            </a:extLst>
          </p:cNvPr>
          <p:cNvSpPr txBox="1"/>
          <p:nvPr/>
        </p:nvSpPr>
        <p:spPr>
          <a:xfrm>
            <a:off x="707570" y="2119727"/>
            <a:ext cx="61022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kern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Improvement</a:t>
            </a:r>
            <a:r>
              <a:rPr lang="pl-PL" b="1" kern="0">
                <a:latin typeface="Times New Roman" panose="02020603050405020304" pitchFamily="18" charset="0"/>
                <a:ea typeface="Times New Roman" panose="02020603050405020304" pitchFamily="18" charset="0"/>
              </a:rPr>
              <a:t> Plan:</a:t>
            </a:r>
          </a:p>
          <a:p>
            <a:r>
              <a:rPr lang="en-US">
                <a:solidFill>
                  <a:schemeClr val="accent6"/>
                </a:solidFill>
                <a:latin typeface="Times New Roman"/>
              </a:rPr>
              <a:t>Jakie </a:t>
            </a:r>
            <a:r>
              <a:rPr lang="en-US" err="1">
                <a:solidFill>
                  <a:schemeClr val="accent6"/>
                </a:solidFill>
                <a:latin typeface="Times New Roman"/>
              </a:rPr>
              <a:t>były</a:t>
            </a:r>
            <a:r>
              <a:rPr lang="en-US">
                <a:solidFill>
                  <a:schemeClr val="accent6"/>
                </a:solidFill>
                <a:latin typeface="Times New Roman"/>
              </a:rPr>
              <a:t> </a:t>
            </a:r>
            <a:r>
              <a:rPr lang="en-US" err="1">
                <a:solidFill>
                  <a:schemeClr val="accent6"/>
                </a:solidFill>
                <a:latin typeface="Times New Roman"/>
              </a:rPr>
              <a:t>pytania</a:t>
            </a:r>
            <a:r>
              <a:rPr lang="en-US">
                <a:solidFill>
                  <a:schemeClr val="accent6"/>
                </a:solidFill>
                <a:latin typeface="Times New Roman"/>
              </a:rPr>
              <a:t>?</a:t>
            </a:r>
            <a:r>
              <a:rPr lang="pl-PL">
                <a:solidFill>
                  <a:schemeClr val="accent6"/>
                </a:solidFill>
                <a:latin typeface="Times New Roman"/>
              </a:rPr>
              <a:t> -&gt; Kinga Sordyl tylko sprawdza czy pytania zostały zebrane (</a:t>
            </a:r>
            <a:r>
              <a:rPr lang="pl-PL" err="1">
                <a:solidFill>
                  <a:schemeClr val="accent6"/>
                </a:solidFill>
                <a:latin typeface="Times New Roman"/>
              </a:rPr>
              <a:t>checkbox</a:t>
            </a:r>
            <a:r>
              <a:rPr lang="pl-PL">
                <a:solidFill>
                  <a:schemeClr val="accent6"/>
                </a:solidFill>
                <a:latin typeface="Times New Roman"/>
              </a:rPr>
              <a:t> w tabelce) a DL wpisuje do tabelki z pytaniami per klient uprzednio otrzymując maila (Kinga Sordyl DW z pytaniami. -&gt; Wykonane</a:t>
            </a:r>
          </a:p>
          <a:p>
            <a:endParaRPr lang="pl-PL">
              <a:solidFill>
                <a:schemeClr val="accent6"/>
              </a:solidFill>
              <a:latin typeface="Times New Roman"/>
            </a:endParaRPr>
          </a:p>
          <a:p>
            <a:r>
              <a:rPr lang="pl-PL">
                <a:solidFill>
                  <a:srgbClr val="FFC000"/>
                </a:solidFill>
                <a:latin typeface="Times New Roman"/>
              </a:rPr>
              <a:t>Dominik dołącza do </a:t>
            </a:r>
            <a:r>
              <a:rPr lang="pl-PL" err="1">
                <a:solidFill>
                  <a:srgbClr val="FFC000"/>
                </a:solidFill>
                <a:latin typeface="Times New Roman"/>
              </a:rPr>
              <a:t>prepów</a:t>
            </a:r>
            <a:r>
              <a:rPr lang="pl-PL">
                <a:solidFill>
                  <a:srgbClr val="FFC000"/>
                </a:solidFill>
                <a:latin typeface="Times New Roman"/>
              </a:rPr>
              <a:t> każdego DL i daje feedback i zbiera ogólne wnioski do kolejnych Warsztatów -&gt; częściowo wykonane, nie wszyscy DL mieli </a:t>
            </a:r>
            <a:r>
              <a:rPr lang="pl-PL" err="1">
                <a:solidFill>
                  <a:srgbClr val="FFC000"/>
                </a:solidFill>
                <a:latin typeface="Times New Roman"/>
              </a:rPr>
              <a:t>prepy</a:t>
            </a:r>
            <a:r>
              <a:rPr lang="pl-PL">
                <a:solidFill>
                  <a:srgbClr val="FFC000"/>
                </a:solidFill>
                <a:latin typeface="Times New Roman"/>
              </a:rPr>
              <a:t>.</a:t>
            </a:r>
            <a:endParaRPr lang="pl-PL">
              <a:solidFill>
                <a:srgbClr val="FFC000"/>
              </a:solidFill>
            </a:endParaRPr>
          </a:p>
          <a:p>
            <a:r>
              <a:rPr lang="pl-PL" b="1" ker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31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5BFF1-3643-77F3-2923-85928C3D8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358F4-79A2-9159-7F00-9AD35716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6. Engagement &amp; Placement (Interview to Placement)</a:t>
            </a:r>
            <a:endParaRPr lang="en-US">
              <a:latin typeface="Aptos Display"/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1D63E5D-2BDA-E5FF-B8A6-3DA03F35FA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1686428"/>
              </p:ext>
            </p:extLst>
          </p:nvPr>
        </p:nvGraphicFramePr>
        <p:xfrm>
          <a:off x="868101" y="3019508"/>
          <a:ext cx="10485697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3491">
                  <a:extLst>
                    <a:ext uri="{9D8B030D-6E8A-4147-A177-3AD203B41FA5}">
                      <a16:colId xmlns:a16="http://schemas.microsoft.com/office/drawing/2014/main" val="1891426940"/>
                    </a:ext>
                  </a:extLst>
                </a:gridCol>
                <a:gridCol w="1588260">
                  <a:extLst>
                    <a:ext uri="{9D8B030D-6E8A-4147-A177-3AD203B41FA5}">
                      <a16:colId xmlns:a16="http://schemas.microsoft.com/office/drawing/2014/main" val="1100671856"/>
                    </a:ext>
                  </a:extLst>
                </a:gridCol>
                <a:gridCol w="3353946">
                  <a:extLst>
                    <a:ext uri="{9D8B030D-6E8A-4147-A177-3AD203B41FA5}">
                      <a16:colId xmlns:a16="http://schemas.microsoft.com/office/drawing/2014/main" val="882654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649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pl-PL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Klaryfikacja zapisów umowy</a:t>
                      </a:r>
                      <a:endParaRPr lang="en-US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TAC or S or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057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Opcjonalnie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negocjacje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przy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wahających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sie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kandyatach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.  </a:t>
                      </a: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DL &amp; Quality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770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Przekazanie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danych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do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zespołu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rozliczeń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i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HR</a:t>
                      </a: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TAC or S or R</a:t>
                      </a:r>
                    </a:p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50560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BA4DD87-49B3-7A96-1879-9001FCA929CA}"/>
              </a:ext>
            </a:extLst>
          </p:cNvPr>
          <p:cNvSpPr txBox="1"/>
          <p:nvPr/>
        </p:nvSpPr>
        <p:spPr>
          <a:xfrm>
            <a:off x="838199" y="1750136"/>
            <a:ext cx="94786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</a:t>
            </a:r>
            <a:r>
              <a:rPr lang="pl-PL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/>
              <a:t>Zamknięcie procesu.</a:t>
            </a:r>
            <a:r>
              <a:rPr lang="en-US"/>
              <a:t> 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pl-PL" sz="1800" b="1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Outcome</a:t>
            </a:r>
            <a:r>
              <a:rPr lang="pl-PL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/>
              <a:t>Podpisana umowa i ustalony start </a:t>
            </a:r>
            <a:r>
              <a:rPr lang="pl-PL" err="1"/>
              <a:t>date</a:t>
            </a:r>
            <a:r>
              <a:rPr lang="pl-PL"/>
              <a:t> / rozpoczęty kontrakt.</a:t>
            </a:r>
            <a:r>
              <a:rPr lang="en-US"/>
              <a:t> 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15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63A85-F937-51AE-06B2-765AEBFA3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C78C0-9D52-4E76-D96B-69473694B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6. Engagement &amp; Placement (Interview to Placement)</a:t>
            </a:r>
            <a:endParaRPr lang="en-US">
              <a:latin typeface="Aptos Displa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0D232E-92EF-99C0-3984-2FA047AC4E31}"/>
              </a:ext>
            </a:extLst>
          </p:cNvPr>
          <p:cNvSpPr txBox="1"/>
          <p:nvPr/>
        </p:nvSpPr>
        <p:spPr>
          <a:xfrm>
            <a:off x="707570" y="2119727"/>
            <a:ext cx="61022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kern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Improvement</a:t>
            </a:r>
            <a:r>
              <a:rPr lang="pl-PL" b="1" kern="0">
                <a:latin typeface="Times New Roman" panose="02020603050405020304" pitchFamily="18" charset="0"/>
                <a:ea typeface="Times New Roman" panose="02020603050405020304" pitchFamily="18" charset="0"/>
              </a:rPr>
              <a:t> Plan:</a:t>
            </a:r>
          </a:p>
          <a:p>
            <a:r>
              <a:rPr lang="pl-PL" b="1" kern="0">
                <a:solidFill>
                  <a:schemeClr val="accent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Powtórka szkolenia z umów z Marta -&gt; wykonane 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75058CA-3046-AB8E-0459-1B5BCF75DC87}"/>
              </a:ext>
            </a:extLst>
          </p:cNvPr>
          <p:cNvSpPr txBox="1"/>
          <p:nvPr/>
        </p:nvSpPr>
        <p:spPr>
          <a:xfrm>
            <a:off x="784411" y="2666999"/>
            <a:ext cx="795617" cy="45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91838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17A9E-0B36-566A-026C-D2CAF53CF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Raporty</a:t>
            </a:r>
            <a:endParaRPr lang="en-US"/>
          </a:p>
        </p:txBody>
      </p:sp>
      <p:sp>
        <p:nvSpPr>
          <p:cNvPr id="4" name="pole tekstowe 2">
            <a:extLst>
              <a:ext uri="{FF2B5EF4-FFF2-40B4-BE49-F238E27FC236}">
                <a16:creationId xmlns:a16="http://schemas.microsoft.com/office/drawing/2014/main" id="{953C4791-D228-6A94-7FFC-F24B56B225B0}"/>
              </a:ext>
            </a:extLst>
          </p:cNvPr>
          <p:cNvSpPr txBox="1"/>
          <p:nvPr/>
        </p:nvSpPr>
        <p:spPr>
          <a:xfrm>
            <a:off x="602061" y="1566418"/>
            <a:ext cx="11125199" cy="14853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>
                <a:hlinkClick r:id="rId2"/>
              </a:rPr>
              <a:t>Raport z działalności DL</a:t>
            </a:r>
            <a:r>
              <a:rPr lang="pl-PL"/>
              <a:t> - </a:t>
            </a:r>
            <a:r>
              <a:rPr lang="pl-PL" err="1">
                <a:ea typeface="+mn-lt"/>
                <a:cs typeface="+mn-lt"/>
              </a:rPr>
              <a:t>https</a:t>
            </a:r>
            <a:r>
              <a:rPr lang="pl-PL">
                <a:ea typeface="+mn-lt"/>
                <a:cs typeface="+mn-lt"/>
              </a:rPr>
              <a:t>://b2bnetsa.sharepoint.com/:x:/r/</a:t>
            </a:r>
            <a:r>
              <a:rPr lang="pl-PL" err="1">
                <a:ea typeface="+mn-lt"/>
                <a:cs typeface="+mn-lt"/>
              </a:rPr>
              <a:t>sites</a:t>
            </a:r>
            <a:r>
              <a:rPr lang="pl-PL">
                <a:ea typeface="+mn-lt"/>
                <a:cs typeface="+mn-lt"/>
              </a:rPr>
              <a:t>/B2B_ALL/_</a:t>
            </a:r>
            <a:r>
              <a:rPr lang="pl-PL" err="1">
                <a:ea typeface="+mn-lt"/>
                <a:cs typeface="+mn-lt"/>
              </a:rPr>
              <a:t>layouts</a:t>
            </a:r>
            <a:r>
              <a:rPr lang="pl-PL">
                <a:ea typeface="+mn-lt"/>
                <a:cs typeface="+mn-lt"/>
              </a:rPr>
              <a:t>/15/</a:t>
            </a:r>
            <a:r>
              <a:rPr lang="pl-PL" err="1">
                <a:ea typeface="+mn-lt"/>
                <a:cs typeface="+mn-lt"/>
              </a:rPr>
              <a:t>Doc.aspx?sourcedoc</a:t>
            </a:r>
            <a:r>
              <a:rPr lang="pl-PL">
                <a:ea typeface="+mn-lt"/>
                <a:cs typeface="+mn-lt"/>
              </a:rPr>
              <a:t>=%7B7A3439C9-5873-465B-BD1B-09C94BC69F67%7D&amp;file=Podsumowanie%20DL.xlsx&amp;action=</a:t>
            </a:r>
            <a:r>
              <a:rPr lang="pl-PL" err="1">
                <a:ea typeface="+mn-lt"/>
                <a:cs typeface="+mn-lt"/>
              </a:rPr>
              <a:t>default&amp;mobileredirect</a:t>
            </a:r>
            <a:r>
              <a:rPr lang="pl-PL">
                <a:ea typeface="+mn-lt"/>
                <a:cs typeface="+mn-lt"/>
              </a:rPr>
              <a:t>=</a:t>
            </a:r>
            <a:r>
              <a:rPr lang="pl-PL" err="1">
                <a:ea typeface="+mn-lt"/>
                <a:cs typeface="+mn-lt"/>
              </a:rPr>
              <a:t>true&amp;wdOrigin</a:t>
            </a:r>
            <a:r>
              <a:rPr lang="pl-PL">
                <a:ea typeface="+mn-lt"/>
                <a:cs typeface="+mn-lt"/>
              </a:rPr>
              <a:t>=TEAMS-MAGLEV.p2p_ns.rwc&amp;wdExp=</a:t>
            </a:r>
            <a:r>
              <a:rPr lang="pl-PL" err="1">
                <a:ea typeface="+mn-lt"/>
                <a:cs typeface="+mn-lt"/>
              </a:rPr>
              <a:t>TEAMS-TREATMENT&amp;wdhostclicktime</a:t>
            </a:r>
            <a:r>
              <a:rPr lang="pl-PL">
                <a:ea typeface="+mn-lt"/>
                <a:cs typeface="+mn-lt"/>
              </a:rPr>
              <a:t>=1762865548332&amp;web=1</a:t>
            </a:r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09FA7FD-3217-972C-6B66-3376414F6EBD}"/>
              </a:ext>
            </a:extLst>
          </p:cNvPr>
          <p:cNvSpPr txBox="1"/>
          <p:nvPr/>
        </p:nvSpPr>
        <p:spPr>
          <a:xfrm>
            <a:off x="602061" y="3067534"/>
            <a:ext cx="1122829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b="1" err="1"/>
              <a:t>Sourcerzy</a:t>
            </a:r>
            <a:r>
              <a:rPr lang="pl-PL" b="1"/>
              <a:t> + </a:t>
            </a:r>
            <a:r>
              <a:rPr lang="pl-PL" b="1" err="1"/>
              <a:t>Rekruterzy</a:t>
            </a:r>
            <a:r>
              <a:rPr lang="pl-PL" b="1"/>
              <a:t> - </a:t>
            </a:r>
            <a:r>
              <a:rPr lang="pl-PL" err="1">
                <a:ea typeface="+mn-lt"/>
                <a:cs typeface="+mn-lt"/>
              </a:rPr>
              <a:t>https</a:t>
            </a:r>
            <a:r>
              <a:rPr lang="pl-PL">
                <a:ea typeface="+mn-lt"/>
                <a:cs typeface="+mn-lt"/>
              </a:rPr>
              <a:t>://b2bnetsa.sharepoint.com/:x:/r/</a:t>
            </a:r>
            <a:r>
              <a:rPr lang="pl-PL" err="1">
                <a:ea typeface="+mn-lt"/>
                <a:cs typeface="+mn-lt"/>
              </a:rPr>
              <a:t>sites</a:t>
            </a:r>
            <a:r>
              <a:rPr lang="pl-PL">
                <a:ea typeface="+mn-lt"/>
                <a:cs typeface="+mn-lt"/>
              </a:rPr>
              <a:t>/B2B_ALL/_</a:t>
            </a:r>
            <a:r>
              <a:rPr lang="pl-PL" err="1">
                <a:ea typeface="+mn-lt"/>
                <a:cs typeface="+mn-lt"/>
              </a:rPr>
              <a:t>layouts</a:t>
            </a:r>
            <a:r>
              <a:rPr lang="pl-PL">
                <a:ea typeface="+mn-lt"/>
                <a:cs typeface="+mn-lt"/>
              </a:rPr>
              <a:t>/15/</a:t>
            </a:r>
            <a:r>
              <a:rPr lang="pl-PL" err="1">
                <a:ea typeface="+mn-lt"/>
                <a:cs typeface="+mn-lt"/>
              </a:rPr>
              <a:t>Doc.aspx?sourcedoc</a:t>
            </a:r>
            <a:r>
              <a:rPr lang="pl-PL">
                <a:ea typeface="+mn-lt"/>
                <a:cs typeface="+mn-lt"/>
              </a:rPr>
              <a:t>=%7B411417DB-A6BC-43D7-BA00-D7F02F52C121%7D&amp;file=Wyniki%20HR%20(rekruterzy%20%2Bsoucerzy).</a:t>
            </a:r>
            <a:r>
              <a:rPr lang="pl-PL" err="1">
                <a:ea typeface="+mn-lt"/>
                <a:cs typeface="+mn-lt"/>
              </a:rPr>
              <a:t>xlsx&amp;action</a:t>
            </a:r>
            <a:r>
              <a:rPr lang="pl-PL">
                <a:ea typeface="+mn-lt"/>
                <a:cs typeface="+mn-lt"/>
              </a:rPr>
              <a:t>=</a:t>
            </a:r>
            <a:r>
              <a:rPr lang="pl-PL" err="1">
                <a:ea typeface="+mn-lt"/>
                <a:cs typeface="+mn-lt"/>
              </a:rPr>
              <a:t>default&amp;mobileredirect</a:t>
            </a:r>
            <a:r>
              <a:rPr lang="pl-PL">
                <a:ea typeface="+mn-lt"/>
                <a:cs typeface="+mn-lt"/>
              </a:rPr>
              <a:t>=</a:t>
            </a:r>
            <a:r>
              <a:rPr lang="pl-PL" err="1">
                <a:ea typeface="+mn-lt"/>
                <a:cs typeface="+mn-lt"/>
              </a:rPr>
              <a:t>true</a:t>
            </a:r>
            <a:endParaRPr lang="pl-P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2D3427-0959-7DB9-9027-C4804CF38949}"/>
              </a:ext>
            </a:extLst>
          </p:cNvPr>
          <p:cNvSpPr txBox="1"/>
          <p:nvPr/>
        </p:nvSpPr>
        <p:spPr>
          <a:xfrm>
            <a:off x="838200" y="5902036"/>
            <a:ext cx="6248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schemeClr val="accent6"/>
                </a:solidFill>
              </a:rPr>
              <a:t>Dodadnie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statow</a:t>
            </a:r>
            <a:r>
              <a:rPr lang="en-US">
                <a:solidFill>
                  <a:schemeClr val="accent6"/>
                </a:solidFill>
              </a:rPr>
              <a:t> o farming </a:t>
            </a:r>
            <a:r>
              <a:rPr lang="en-US" err="1">
                <a:solidFill>
                  <a:schemeClr val="accent6"/>
                </a:solidFill>
              </a:rPr>
              <a:t>linkedin</a:t>
            </a:r>
            <a:r>
              <a:rPr lang="en-US">
                <a:solidFill>
                  <a:schemeClr val="accent6"/>
                </a:solidFill>
              </a:rPr>
              <a:t> + </a:t>
            </a:r>
            <a:r>
              <a:rPr lang="en-US" err="1">
                <a:solidFill>
                  <a:schemeClr val="accent6"/>
                </a:solidFill>
              </a:rPr>
              <a:t>ogloszenia</a:t>
            </a:r>
            <a:r>
              <a:rPr lang="pl-PL">
                <a:solidFill>
                  <a:schemeClr val="accent6"/>
                </a:solidFill>
              </a:rPr>
              <a:t> -&gt; wykonane</a:t>
            </a:r>
            <a:endParaRPr lang="en-US">
              <a:solidFill>
                <a:schemeClr val="accent6"/>
              </a:solidFill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9F7A3D8-8E51-13C0-953D-A8FE0DB12D9A}"/>
              </a:ext>
            </a:extLst>
          </p:cNvPr>
          <p:cNvSpPr txBox="1"/>
          <p:nvPr/>
        </p:nvSpPr>
        <p:spPr>
          <a:xfrm>
            <a:off x="756918" y="4544862"/>
            <a:ext cx="10815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Podsumowanie KPI:  B2Bnet S.A\B2B_ALL - Dokumenty\12_Komitet sterujący\KPI</a:t>
            </a:r>
          </a:p>
        </p:txBody>
      </p:sp>
    </p:spTree>
    <p:extLst>
      <p:ext uri="{BB962C8B-B14F-4D97-AF65-F5344CB8AC3E}">
        <p14:creationId xmlns:p14="http://schemas.microsoft.com/office/powerpoint/2010/main" val="3862883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2A300-0757-B8DA-DA30-54F5B3005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79274-BC8E-E384-8953-687588CE0C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Sales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B01D5-C033-B471-4A44-3FC2501465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Proces</a:t>
            </a:r>
            <a:r>
              <a:rPr lang="en-US"/>
              <a:t> &amp; </a:t>
            </a:r>
            <a:r>
              <a:rPr lang="en-US" err="1"/>
              <a:t>wyniki</a:t>
            </a:r>
          </a:p>
        </p:txBody>
      </p:sp>
    </p:spTree>
    <p:extLst>
      <p:ext uri="{BB962C8B-B14F-4D97-AF65-F5344CB8AC3E}">
        <p14:creationId xmlns:p14="http://schemas.microsoft.com/office/powerpoint/2010/main" val="405719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D32B1-6921-03BD-D9E3-AC987DE3D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CB3C0-3679-8FDC-3186-3954B2730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1. Market Intelligence to Target Definition </a:t>
            </a:r>
            <a:endParaRPr lang="en-US">
              <a:latin typeface="Aptos Display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05D3D9-6919-4559-8AEF-EF4702AD15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6926498"/>
              </p:ext>
            </p:extLst>
          </p:nvPr>
        </p:nvGraphicFramePr>
        <p:xfrm>
          <a:off x="974912" y="3012369"/>
          <a:ext cx="10242176" cy="1388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8475">
                  <a:extLst>
                    <a:ext uri="{9D8B030D-6E8A-4147-A177-3AD203B41FA5}">
                      <a16:colId xmlns:a16="http://schemas.microsoft.com/office/drawing/2014/main" val="1891426940"/>
                    </a:ext>
                  </a:extLst>
                </a:gridCol>
                <a:gridCol w="1546963">
                  <a:extLst>
                    <a:ext uri="{9D8B030D-6E8A-4147-A177-3AD203B41FA5}">
                      <a16:colId xmlns:a16="http://schemas.microsoft.com/office/drawing/2014/main" val="1100671856"/>
                    </a:ext>
                  </a:extLst>
                </a:gridCol>
                <a:gridCol w="3266738">
                  <a:extLst>
                    <a:ext uri="{9D8B030D-6E8A-4147-A177-3AD203B41FA5}">
                      <a16:colId xmlns:a16="http://schemas.microsoft.com/office/drawing/2014/main" val="882654972"/>
                    </a:ext>
                  </a:extLst>
                </a:gridCol>
              </a:tblGrid>
              <a:tr h="28036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649688"/>
                  </a:ext>
                </a:extLst>
              </a:tr>
              <a:tr h="1022871">
                <a:tc>
                  <a:txBody>
                    <a:bodyPr/>
                    <a:lstStyle/>
                    <a:p>
                      <a:pPr lvl="0"/>
                      <a:r>
                        <a:rPr lang="pl-PL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Definicja segmentów wertykalnych (branże, regiony, skala organizacji).</a:t>
                      </a:r>
                      <a:endParaRPr lang="en-US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Head of 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0578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4533286-4E57-62D9-19B0-042340AC5957}"/>
              </a:ext>
            </a:extLst>
          </p:cNvPr>
          <p:cNvSpPr txBox="1"/>
          <p:nvPr/>
        </p:nvSpPr>
        <p:spPr>
          <a:xfrm>
            <a:off x="838200" y="1574240"/>
            <a:ext cx="102421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</a:t>
            </a:r>
            <a:r>
              <a:rPr lang="pl-PL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Strategiczny wybór segmentów rynku i ICP (</a:t>
            </a:r>
            <a:r>
              <a:rPr lang="pl-PL" sz="1800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Ideal</a:t>
            </a:r>
            <a: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</a:t>
            </a:r>
            <a: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Profile). </a:t>
            </a:r>
          </a:p>
          <a:p>
            <a:r>
              <a:rPr lang="pl-PL" sz="1800" b="1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Outcome</a:t>
            </a:r>
            <a:r>
              <a:rPr lang="pl-PL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/>
              <a:t>Lista </a:t>
            </a:r>
            <a:r>
              <a:rPr lang="en-US" err="1"/>
              <a:t>priorytetowych</a:t>
            </a:r>
            <a:r>
              <a:rPr lang="en-US"/>
              <a:t> </a:t>
            </a:r>
            <a:r>
              <a:rPr lang="en-US" err="1"/>
              <a:t>kont</a:t>
            </a:r>
            <a:r>
              <a:rPr lang="en-US"/>
              <a:t> (Account List) + scoring </a:t>
            </a:r>
            <a:r>
              <a:rPr lang="en-US" err="1"/>
              <a:t>potencjału</a:t>
            </a:r>
            <a:r>
              <a:rPr lang="en-US"/>
              <a:t> (np. Tier A/B/C). 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133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213D7-7F12-2AE6-A042-F1A62593D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6F16A-C447-2A84-D676-1ED623AEC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1. Market Intelligence → Target Definition </a:t>
            </a:r>
            <a:endParaRPr lang="en-US">
              <a:latin typeface="Aptos Display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DA9C4B5-79DD-995B-912E-BFF9294BE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/>
              <a:t>Scoring pod ICP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nowa</a:t>
            </a:r>
            <a:r>
              <a:rPr lang="en-US"/>
              <a:t> </a:t>
            </a:r>
            <a:r>
              <a:rPr lang="en-US" err="1"/>
              <a:t>definicja</a:t>
            </a:r>
            <a:r>
              <a:rPr lang="en-US"/>
              <a:t> ICP pod SDR</a:t>
            </a:r>
          </a:p>
        </p:txBody>
      </p:sp>
    </p:spTree>
    <p:extLst>
      <p:ext uri="{BB962C8B-B14F-4D97-AF65-F5344CB8AC3E}">
        <p14:creationId xmlns:p14="http://schemas.microsoft.com/office/powerpoint/2010/main" val="300543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714F7-5E8A-CD2E-2097-DF770FD2F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F7CDE-A42D-5A85-9ADE-18DAC1B38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96" y="0"/>
            <a:ext cx="10515600" cy="1028927"/>
          </a:xfrm>
        </p:spPr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2. Target to Lead (Outbound &amp; Inbound) </a:t>
            </a:r>
            <a:endParaRPr lang="en-US">
              <a:latin typeface="Aptos Display"/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07B57540-168F-7A51-C484-75F50166BA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0204715"/>
              </p:ext>
            </p:extLst>
          </p:nvPr>
        </p:nvGraphicFramePr>
        <p:xfrm>
          <a:off x="684550" y="2733018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463">
                  <a:extLst>
                    <a:ext uri="{9D8B030D-6E8A-4147-A177-3AD203B41FA5}">
                      <a16:colId xmlns:a16="http://schemas.microsoft.com/office/drawing/2014/main" val="1891426940"/>
                    </a:ext>
                  </a:extLst>
                </a:gridCol>
                <a:gridCol w="2256726">
                  <a:extLst>
                    <a:ext uri="{9D8B030D-6E8A-4147-A177-3AD203B41FA5}">
                      <a16:colId xmlns:a16="http://schemas.microsoft.com/office/drawing/2014/main" val="1100671856"/>
                    </a:ext>
                  </a:extLst>
                </a:gridCol>
                <a:gridCol w="4458411">
                  <a:extLst>
                    <a:ext uri="{9D8B030D-6E8A-4147-A177-3AD203B41FA5}">
                      <a16:colId xmlns:a16="http://schemas.microsoft.com/office/drawing/2014/main" val="882654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649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Cold 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SDR &amp; BDM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0C0"/>
                          </a:solidFill>
                        </a:rPr>
                        <a:t>TL-01: SDR MQL Generation Rate</a:t>
                      </a:r>
                    </a:p>
                    <a:p>
                      <a:br/>
                      <a:r>
                        <a:t>SDR – 5 MQL per tydzień</a:t>
                      </a:r>
                      <a:br/>
                      <a:r>
                        <a:t>BDM – 2 MQL per tydzień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057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Eventy</a:t>
                      </a:r>
                      <a:r>
                        <a:rPr lang="en-US"/>
                        <a:t> &amp; </a:t>
                      </a:r>
                      <a:r>
                        <a:rPr lang="en-US" err="1"/>
                        <a:t>Konferencje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BDM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770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Webinary</a:t>
                      </a:r>
                      <a:r>
                        <a:rPr lang="en-US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HoD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505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Inbound 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578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Cold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275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 &amp; Employer branding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2106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69BF313-4B81-3DC7-5B42-6C0499151124}"/>
              </a:ext>
            </a:extLst>
          </p:cNvPr>
          <p:cNvSpPr txBox="1"/>
          <p:nvPr/>
        </p:nvSpPr>
        <p:spPr>
          <a:xfrm>
            <a:off x="560976" y="1546724"/>
            <a:ext cx="94786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</a:t>
            </a:r>
            <a:r>
              <a:rPr lang="pl-PL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/>
              <a:t>Generowanie zainteresowania i pozyskanie pierwszego kontaktu .</a:t>
            </a:r>
            <a:r>
              <a:rPr lang="en-US"/>
              <a:t> 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pl-PL" sz="1800" b="1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Outcome</a:t>
            </a:r>
            <a:r>
              <a:rPr lang="pl-PL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/>
              <a:t>Lead </a:t>
            </a:r>
            <a:r>
              <a:rPr lang="en-US" err="1"/>
              <a:t>kwalifikowany</a:t>
            </a:r>
            <a:r>
              <a:rPr lang="en-US"/>
              <a:t> </a:t>
            </a:r>
            <a:r>
              <a:rPr lang="en-US" err="1"/>
              <a:t>marketingowo</a:t>
            </a:r>
            <a:r>
              <a:rPr lang="en-US"/>
              <a:t> (MQL). 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54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7BD75-EC66-D525-4CD4-9769003FD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5802-44E9-D6D5-40C4-BC105F5DE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96" y="0"/>
            <a:ext cx="10515600" cy="1028927"/>
          </a:xfrm>
        </p:spPr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2. Target to Lead (Outbound &amp; Inbound SDR) </a:t>
            </a:r>
            <a:endParaRPr lang="en-US">
              <a:latin typeface="Aptos Display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922E5-A96D-B17E-EA46-251CDE333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07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6A5F5-57F3-46EA-2BEB-49966E912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C3A0B-CD13-6EB5-5F05-7E59FB3DA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82" y="407944"/>
            <a:ext cx="11780604" cy="1325563"/>
          </a:xfrm>
        </p:spPr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3. </a:t>
            </a:r>
            <a:r>
              <a:rPr lang="en-US"/>
              <a:t>MQL to SQL (Discovery &amp; Qualification) </a:t>
            </a:r>
            <a:endParaRPr lang="en-US">
              <a:latin typeface="Aptos Display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503524-4B1B-39F5-06AD-6B112D6B46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2919501"/>
              </p:ext>
            </p:extLst>
          </p:nvPr>
        </p:nvGraphicFramePr>
        <p:xfrm>
          <a:off x="309797" y="3041495"/>
          <a:ext cx="11681997" cy="175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1598">
                  <a:extLst>
                    <a:ext uri="{9D8B030D-6E8A-4147-A177-3AD203B41FA5}">
                      <a16:colId xmlns:a16="http://schemas.microsoft.com/office/drawing/2014/main" val="1891426940"/>
                    </a:ext>
                  </a:extLst>
                </a:gridCol>
                <a:gridCol w="1764431">
                  <a:extLst>
                    <a:ext uri="{9D8B030D-6E8A-4147-A177-3AD203B41FA5}">
                      <a16:colId xmlns:a16="http://schemas.microsoft.com/office/drawing/2014/main" val="1100671856"/>
                    </a:ext>
                  </a:extLst>
                </a:gridCol>
                <a:gridCol w="3725968">
                  <a:extLst>
                    <a:ext uri="{9D8B030D-6E8A-4147-A177-3AD203B41FA5}">
                      <a16:colId xmlns:a16="http://schemas.microsoft.com/office/drawing/2014/main" val="882654972"/>
                    </a:ext>
                  </a:extLst>
                </a:gridCol>
              </a:tblGrid>
              <a:tr h="27255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649688"/>
                  </a:ext>
                </a:extLst>
              </a:tr>
              <a:tr h="462510">
                <a:tc>
                  <a:txBody>
                    <a:bodyPr/>
                    <a:lstStyle/>
                    <a:p>
                      <a:pPr algn="ctr"/>
                      <a:r>
                        <a:rPr lang="pl-PL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Discovery Call → analiza wyzwań, priorytetów i środowiska IT</a:t>
                      </a:r>
                      <a:r>
                        <a:rPr lang="en-US">
                          <a:effectLst/>
                        </a:rPr>
                        <a:t>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HoD</a:t>
                      </a:r>
                      <a:r>
                        <a:rPr lang="en-US"/>
                        <a:t> or BDM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057852"/>
                  </a:ext>
                </a:extLst>
              </a:tr>
              <a:tr h="4625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Wstępne mapowanie decydentów i procesów zakupowych.</a:t>
                      </a:r>
                      <a:endParaRPr lang="en-US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BDM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215042"/>
                  </a:ext>
                </a:extLst>
              </a:tr>
              <a:tr h="4625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ICP </a:t>
                      </a:r>
                      <a:r>
                        <a:rPr lang="pl-PL" sz="18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scoring</a:t>
                      </a:r>
                      <a:r>
                        <a:rPr lang="pl-PL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dopasowanie usług, czasu, budżetu, dojrzałości.</a:t>
                      </a:r>
                      <a:endParaRPr lang="en-US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BDM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7024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B1C53B8-BECE-D47C-23D3-275E91DB513E}"/>
              </a:ext>
            </a:extLst>
          </p:cNvPr>
          <p:cNvSpPr txBox="1"/>
          <p:nvPr/>
        </p:nvSpPr>
        <p:spPr>
          <a:xfrm>
            <a:off x="838199" y="1733507"/>
            <a:ext cx="94786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</a:t>
            </a:r>
            <a:r>
              <a:rPr lang="pl-PL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/>
              <a:t>Weryfikacja dopasowania potrzeb i potencjału klienta</a:t>
            </a:r>
            <a:r>
              <a:rPr lang="en-US"/>
              <a:t>.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pl-PL" sz="1800" b="1" kern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Outcome</a:t>
            </a:r>
            <a:r>
              <a:rPr lang="pl-PL" sz="18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/>
              <a:t>Sales Qualified Lead (SQL) + </a:t>
            </a:r>
            <a:r>
              <a:rPr lang="en-US" err="1"/>
              <a:t>notatka</a:t>
            </a:r>
            <a:r>
              <a:rPr lang="en-US"/>
              <a:t> discovery w CRM. 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63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84E34-9252-5D58-46CE-21EB80D2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409A-3ADB-ADB1-540B-2901B9EE0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82" y="407944"/>
            <a:ext cx="11780604" cy="1325563"/>
          </a:xfrm>
        </p:spPr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3. </a:t>
            </a:r>
            <a:r>
              <a:rPr lang="en-US"/>
              <a:t>MQL to SQL (Discovery &amp; Qualification) </a:t>
            </a:r>
            <a:endParaRPr lang="en-US">
              <a:latin typeface="Aptos Display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0BEBD2-DEE3-16DC-7866-7691B77CF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88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A2A24-49C6-DC4D-686F-D0E08FEBE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6582D-5CD6-9EBF-FEA1-08C513936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4. </a:t>
            </a:r>
            <a:r>
              <a:rPr lang="en-US">
                <a:latin typeface="Times New Roman"/>
                <a:cs typeface="Times New Roman"/>
              </a:rPr>
              <a:t>SQL to Offer (Solution Design &amp; Business Case)</a:t>
            </a:r>
            <a:endParaRPr lang="en-US">
              <a:latin typeface="Times New Roman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63F111-75D2-8B0D-20B0-49204E559E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0630488"/>
              </p:ext>
            </p:extLst>
          </p:nvPr>
        </p:nvGraphicFramePr>
        <p:xfrm>
          <a:off x="309797" y="2732914"/>
          <a:ext cx="11659679" cy="1234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5464">
                  <a:extLst>
                    <a:ext uri="{9D8B030D-6E8A-4147-A177-3AD203B41FA5}">
                      <a16:colId xmlns:a16="http://schemas.microsoft.com/office/drawing/2014/main" val="1891426940"/>
                    </a:ext>
                  </a:extLst>
                </a:gridCol>
                <a:gridCol w="3479136">
                  <a:extLst>
                    <a:ext uri="{9D8B030D-6E8A-4147-A177-3AD203B41FA5}">
                      <a16:colId xmlns:a16="http://schemas.microsoft.com/office/drawing/2014/main" val="1100671856"/>
                    </a:ext>
                  </a:extLst>
                </a:gridCol>
                <a:gridCol w="1695079">
                  <a:extLst>
                    <a:ext uri="{9D8B030D-6E8A-4147-A177-3AD203B41FA5}">
                      <a16:colId xmlns:a16="http://schemas.microsoft.com/office/drawing/2014/main" val="882654972"/>
                    </a:ext>
                  </a:extLst>
                </a:gridCol>
              </a:tblGrid>
              <a:tr h="35305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649688"/>
                  </a:ext>
                </a:extLst>
              </a:tr>
              <a:tr h="868312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Przygotowanie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oferty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z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jasnym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value proposition / problem solving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i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harmonogramem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.</a:t>
                      </a: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HoD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5056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85DDEE4-5402-3C43-72F3-A39769464CD0}"/>
              </a:ext>
            </a:extLst>
          </p:cNvPr>
          <p:cNvSpPr txBox="1"/>
          <p:nvPr/>
        </p:nvSpPr>
        <p:spPr>
          <a:xfrm>
            <a:off x="838199" y="1750136"/>
            <a:ext cx="9478617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l-PL" sz="1800" b="1" kern="0" err="1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Goal</a:t>
            </a:r>
            <a:r>
              <a:rPr lang="pl-PL" sz="1800" b="1" kern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:</a:t>
            </a:r>
            <a:r>
              <a:rPr lang="pl-PL" sz="1800" kern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 </a:t>
            </a:r>
            <a:r>
              <a:rPr lang="pl-PL" kern="0">
                <a:latin typeface="Times New Roman"/>
                <a:cs typeface="Times New Roman"/>
              </a:rPr>
              <a:t>Stworzenie spójnej oferty biznesowo-technicznej.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pl-PL" sz="1800" b="1" kern="0" err="1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Outcome</a:t>
            </a:r>
            <a:r>
              <a:rPr lang="pl-PL" sz="1800" b="1" kern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:</a:t>
            </a:r>
            <a:r>
              <a:rPr lang="pl-PL" kern="0">
                <a:latin typeface="Times New Roman"/>
                <a:ea typeface="Times New Roman" panose="02020603050405020304" pitchFamily="18" charset="0"/>
                <a:cs typeface="Times New Roman"/>
              </a:rPr>
              <a:t> </a:t>
            </a:r>
            <a:r>
              <a:rPr lang="pl-PL" kern="0">
                <a:latin typeface="Times New Roman"/>
                <a:cs typeface="Times New Roman"/>
              </a:rPr>
              <a:t>Oferta z ROI + opcje współpracy.</a:t>
            </a:r>
            <a:r>
              <a:rPr lang="en-US"/>
              <a:t> 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53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00CEF-60A6-47FB-2034-CD2925BB3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B7AA4-33B4-15E7-38B0-CAB6D60D4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4. </a:t>
            </a:r>
            <a:r>
              <a:rPr lang="en-US">
                <a:latin typeface="Times New Roman"/>
                <a:cs typeface="Times New Roman"/>
              </a:rPr>
              <a:t>SQL to Offer (Solution Design &amp; Business Case)</a:t>
            </a:r>
            <a:endParaRPr lang="en-US">
              <a:latin typeface="Times New Roman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894BA2-A450-AD3C-C60F-F4F004D65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312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C43B9-6872-A49E-4B37-EFB18B23E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7CFA4-F346-B906-CACF-172ADBCE2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5. </a:t>
            </a:r>
            <a:r>
              <a:rPr lang="en-US">
                <a:latin typeface="Times New Roman"/>
                <a:cs typeface="Times New Roman"/>
              </a:rPr>
              <a:t>Offer to Contract (Negotiation &amp; Closing)</a:t>
            </a:r>
            <a:endParaRPr lang="en-US">
              <a:latin typeface="Times New Roman"/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79A2691-6023-2483-0437-1BF58AB7A0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4902284"/>
              </p:ext>
            </p:extLst>
          </p:nvPr>
        </p:nvGraphicFramePr>
        <p:xfrm>
          <a:off x="313150" y="2766164"/>
          <a:ext cx="11625966" cy="1543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1901">
                  <a:extLst>
                    <a:ext uri="{9D8B030D-6E8A-4147-A177-3AD203B41FA5}">
                      <a16:colId xmlns:a16="http://schemas.microsoft.com/office/drawing/2014/main" val="1891426940"/>
                    </a:ext>
                  </a:extLst>
                </a:gridCol>
                <a:gridCol w="1755968">
                  <a:extLst>
                    <a:ext uri="{9D8B030D-6E8A-4147-A177-3AD203B41FA5}">
                      <a16:colId xmlns:a16="http://schemas.microsoft.com/office/drawing/2014/main" val="1100671856"/>
                    </a:ext>
                  </a:extLst>
                </a:gridCol>
                <a:gridCol w="3708097">
                  <a:extLst>
                    <a:ext uri="{9D8B030D-6E8A-4147-A177-3AD203B41FA5}">
                      <a16:colId xmlns:a16="http://schemas.microsoft.com/office/drawing/2014/main" val="882654972"/>
                    </a:ext>
                  </a:extLst>
                </a:gridCol>
              </a:tblGrid>
              <a:tr h="34690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649688"/>
                  </a:ext>
                </a:extLst>
              </a:tr>
              <a:tr h="5886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Adaptacja warunków oferty do oczekiwań klienta.</a:t>
                      </a: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BDM &amp; </a:t>
                      </a:r>
                      <a:r>
                        <a:rPr lang="en-US" err="1"/>
                        <a:t>HoD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057852"/>
                  </a:ext>
                </a:extLst>
              </a:tr>
              <a:tr h="58868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Zarządzanie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procesem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800" b="0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akceptacji</a:t>
                      </a: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(procurement, legal).</a:t>
                      </a: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BDM &amp; </a:t>
                      </a:r>
                      <a:r>
                        <a:rPr lang="en-US" err="1"/>
                        <a:t>HoD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7704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BF7439F-2CAD-552B-4CEE-6C676113E522}"/>
              </a:ext>
            </a:extLst>
          </p:cNvPr>
          <p:cNvSpPr txBox="1"/>
          <p:nvPr/>
        </p:nvSpPr>
        <p:spPr>
          <a:xfrm>
            <a:off x="838199" y="1750136"/>
            <a:ext cx="9478617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l-PL" sz="1800" b="1" kern="0" err="1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Goal</a:t>
            </a:r>
            <a:r>
              <a:rPr lang="pl-PL" sz="1800" b="1" kern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:</a:t>
            </a:r>
            <a:r>
              <a:rPr lang="pl-PL" kern="0">
                <a:latin typeface="Times New Roman"/>
                <a:ea typeface="Times New Roman" panose="02020603050405020304" pitchFamily="18" charset="0"/>
                <a:cs typeface="Times New Roman"/>
              </a:rPr>
              <a:t> Finalizacja kontraktu i minimalizacja </a:t>
            </a:r>
            <a:r>
              <a:rPr lang="pl-PL" kern="0" err="1">
                <a:latin typeface="Times New Roman"/>
                <a:cs typeface="Times New Roman"/>
              </a:rPr>
              <a:t>frikcji</a:t>
            </a:r>
            <a:r>
              <a:rPr lang="pl-PL" kern="0">
                <a:latin typeface="Times New Roman"/>
                <a:cs typeface="Times New Roman"/>
              </a:rPr>
              <a:t> decyzyjnych.</a:t>
            </a:r>
            <a:r>
              <a:rPr lang="en-US"/>
              <a:t> 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pl-PL" sz="1800" b="1" kern="0" err="1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Outcome</a:t>
            </a:r>
            <a:r>
              <a:rPr lang="pl-PL" sz="1800" b="1" kern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:</a:t>
            </a:r>
            <a:r>
              <a:rPr lang="pl-PL" sz="1800" kern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 </a:t>
            </a:r>
            <a:r>
              <a:rPr lang="pl-PL" kern="0">
                <a:latin typeface="Times New Roman"/>
                <a:cs typeface="Times New Roman"/>
              </a:rPr>
              <a:t>Podpisany kontrakt + </a:t>
            </a:r>
            <a:r>
              <a:rPr lang="pl-PL" kern="0" err="1">
                <a:latin typeface="Times New Roman"/>
                <a:cs typeface="Times New Roman"/>
              </a:rPr>
              <a:t>kickoff</a:t>
            </a:r>
            <a:r>
              <a:rPr lang="pl-PL" kern="0">
                <a:latin typeface="Times New Roman"/>
                <a:cs typeface="Times New Roman"/>
              </a:rPr>
              <a:t> date.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78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07191-A495-8590-0E59-3CB7F5871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0EC14-9FFF-A194-7E11-7B0D9E432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5. </a:t>
            </a:r>
            <a:r>
              <a:rPr lang="en-US">
                <a:latin typeface="Times New Roman"/>
                <a:cs typeface="Times New Roman"/>
              </a:rPr>
              <a:t>Offer to Contract (Negotiation &amp; Closing)</a:t>
            </a:r>
            <a:endParaRPr lang="en-US">
              <a:latin typeface="Times New Roman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0ACF98-2204-0C51-594C-513490C1C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3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1241A-7B5C-0619-EAED-55B07AF65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E0983-7446-C44B-8576-E511A602F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6. </a:t>
            </a:r>
            <a:r>
              <a:rPr lang="en-US">
                <a:latin typeface="Times New Roman"/>
                <a:cs typeface="Times New Roman"/>
              </a:rPr>
              <a:t>Contract to Expansion (Post-Sale &amp; Growth Loop)</a:t>
            </a:r>
            <a:endParaRPr lang="en-US">
              <a:latin typeface="Times New Roman"/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98B4405-8C7A-5840-0AC5-F099680D68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672711"/>
              </p:ext>
            </p:extLst>
          </p:nvPr>
        </p:nvGraphicFramePr>
        <p:xfrm>
          <a:off x="313150" y="2922739"/>
          <a:ext cx="11681997" cy="1968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1598">
                  <a:extLst>
                    <a:ext uri="{9D8B030D-6E8A-4147-A177-3AD203B41FA5}">
                      <a16:colId xmlns:a16="http://schemas.microsoft.com/office/drawing/2014/main" val="1891426940"/>
                    </a:ext>
                  </a:extLst>
                </a:gridCol>
                <a:gridCol w="1764431">
                  <a:extLst>
                    <a:ext uri="{9D8B030D-6E8A-4147-A177-3AD203B41FA5}">
                      <a16:colId xmlns:a16="http://schemas.microsoft.com/office/drawing/2014/main" val="1100671856"/>
                    </a:ext>
                  </a:extLst>
                </a:gridCol>
                <a:gridCol w="3725968">
                  <a:extLst>
                    <a:ext uri="{9D8B030D-6E8A-4147-A177-3AD203B41FA5}">
                      <a16:colId xmlns:a16="http://schemas.microsoft.com/office/drawing/2014/main" val="882654972"/>
                    </a:ext>
                  </a:extLst>
                </a:gridCol>
              </a:tblGrid>
              <a:tr h="35948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649688"/>
                  </a:ext>
                </a:extLst>
              </a:tr>
              <a:tr h="35948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NPS / feedback po 30–60 dniach.</a:t>
                      </a: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057852"/>
                  </a:ext>
                </a:extLst>
              </a:tr>
              <a:tr h="871483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Cross-sell i upsell na bazie zrealizowanych sukcesów.</a:t>
                      </a: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BDM &amp; PM &amp; </a:t>
                      </a:r>
                      <a:r>
                        <a:rPr lang="en-US" err="1"/>
                        <a:t>HoD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770462"/>
                  </a:ext>
                </a:extLst>
              </a:tr>
              <a:tr h="35948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50560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0CFCDA9-6EDC-DC91-EFB6-A6214BEA0C25}"/>
              </a:ext>
            </a:extLst>
          </p:cNvPr>
          <p:cNvSpPr txBox="1"/>
          <p:nvPr/>
        </p:nvSpPr>
        <p:spPr>
          <a:xfrm>
            <a:off x="838199" y="1750136"/>
            <a:ext cx="9478617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l-PL" sz="1800" b="1" kern="0" err="1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Goal</a:t>
            </a:r>
            <a:r>
              <a:rPr lang="pl-PL" sz="1800" b="1" kern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:</a:t>
            </a:r>
            <a:r>
              <a:rPr lang="pl-PL" kern="0">
                <a:latin typeface="Times New Roman"/>
                <a:ea typeface="Times New Roman" panose="02020603050405020304" pitchFamily="18" charset="0"/>
                <a:cs typeface="Times New Roman"/>
              </a:rPr>
              <a:t> </a:t>
            </a:r>
            <a:r>
              <a:rPr lang="pl-PL"/>
              <a:t>Utrzymanie relacji i rozwój konta (</a:t>
            </a:r>
            <a:r>
              <a:rPr lang="pl-PL" err="1"/>
              <a:t>Account</a:t>
            </a:r>
            <a:r>
              <a:rPr lang="pl-PL"/>
              <a:t> Expansion)</a:t>
            </a:r>
            <a:r>
              <a:rPr lang="pl-PL" kern="0">
                <a:latin typeface="Times New Roman"/>
                <a:cs typeface="Times New Roman"/>
              </a:rPr>
              <a:t>.</a:t>
            </a:r>
            <a:r>
              <a:rPr lang="en-US"/>
              <a:t> 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pl-PL" sz="1800" b="1" kern="0" err="1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Outcome</a:t>
            </a:r>
            <a:r>
              <a:rPr lang="pl-PL" sz="1800" b="1" kern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:</a:t>
            </a:r>
            <a:r>
              <a:rPr lang="pl-PL" sz="1800" kern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 </a:t>
            </a:r>
            <a:r>
              <a:rPr lang="en-US"/>
              <a:t>Case Study + </a:t>
            </a:r>
            <a:r>
              <a:rPr lang="en-US" err="1"/>
              <a:t>nowe</a:t>
            </a:r>
            <a:r>
              <a:rPr lang="en-US"/>
              <a:t> opportunity. </a:t>
            </a:r>
            <a:br>
              <a:rPr lang="pl-PL" sz="18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654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74ADB-D603-A9ED-0DFF-FC20858D6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8E94E-14CC-B4FB-47EF-4AB59E8D7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ptos Display"/>
                <a:cs typeface="Times New Roman"/>
              </a:rPr>
              <a:t>6. </a:t>
            </a:r>
            <a:r>
              <a:rPr lang="en-US">
                <a:latin typeface="Times New Roman"/>
                <a:cs typeface="Times New Roman"/>
              </a:rPr>
              <a:t>Contract to Expansion (Post-Sale &amp; Growth Loop)</a:t>
            </a:r>
            <a:endParaRPr lang="en-US">
              <a:latin typeface="Times New Roman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071E85-20EB-10C6-A62D-D55A245DD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29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CEF86-A796-0D63-5CC0-354AE815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Raporty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B8328-8D21-EE71-62EA-E59C9716E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0216" cy="1605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 b="1"/>
              <a:t>Meetings booked</a:t>
            </a:r>
            <a:r>
              <a:rPr lang="en-US" sz="1400"/>
              <a:t> - </a:t>
            </a:r>
            <a:r>
              <a:rPr lang="en-US" sz="1400">
                <a:ea typeface="+mn-lt"/>
                <a:cs typeface="+mn-lt"/>
                <a:hlinkClick r:id="rId2"/>
              </a:rPr>
              <a:t>https://b2bnetsa.sharepoint.com/:x:/r/sites/B2B_ALL/_layouts/15/Doc.aspx?sourcedoc=%7B1FE9612E-38C1-4011-BF58-987448DECA11%7D&amp;file=BDM%20Stats.xlsx&amp;action=default&amp;mobileredirect=true</a:t>
            </a:r>
            <a:endParaRPr lang="en-US" sz="1400">
              <a:ea typeface="+mn-lt"/>
              <a:cs typeface="+mn-lt"/>
            </a:endParaRPr>
          </a:p>
          <a:p>
            <a:r>
              <a:rPr lang="en-US" sz="1400"/>
              <a:t>Meetings Concluded - </a:t>
            </a:r>
          </a:p>
          <a:p>
            <a:r>
              <a:rPr lang="en-US" sz="1400"/>
              <a:t>BDM Sales </a:t>
            </a:r>
            <a:r>
              <a:rPr lang="en-US" sz="1400" err="1"/>
              <a:t>Effectivness</a:t>
            </a:r>
            <a:r>
              <a:rPr lang="en-US" sz="1400"/>
              <a:t> – </a:t>
            </a:r>
            <a:r>
              <a:rPr lang="en-US" sz="1400" err="1"/>
              <a:t>HoD</a:t>
            </a:r>
            <a:r>
              <a:rPr lang="en-US" sz="1400"/>
              <a:t>: TBD </a:t>
            </a:r>
          </a:p>
          <a:p>
            <a:endParaRPr lang="en-US" sz="1400"/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892267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3819FD-4E5B-4157-F7F0-2ED3DB1AD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Ogólne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wskażniki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targety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operacyjne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(Body Leasing)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6DFED4-D3EE-3628-2DF4-057C938C71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704968"/>
              </p:ext>
            </p:extLst>
          </p:nvPr>
        </p:nvGraphicFramePr>
        <p:xfrm>
          <a:off x="643467" y="2101425"/>
          <a:ext cx="10905068" cy="40859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93551">
                  <a:extLst>
                    <a:ext uri="{9D8B030D-6E8A-4147-A177-3AD203B41FA5}">
                      <a16:colId xmlns:a16="http://schemas.microsoft.com/office/drawing/2014/main" val="4071519433"/>
                    </a:ext>
                  </a:extLst>
                </a:gridCol>
                <a:gridCol w="3000791">
                  <a:extLst>
                    <a:ext uri="{9D8B030D-6E8A-4147-A177-3AD203B41FA5}">
                      <a16:colId xmlns:a16="http://schemas.microsoft.com/office/drawing/2014/main" val="3140513633"/>
                    </a:ext>
                  </a:extLst>
                </a:gridCol>
                <a:gridCol w="4010726">
                  <a:extLst>
                    <a:ext uri="{9D8B030D-6E8A-4147-A177-3AD203B41FA5}">
                      <a16:colId xmlns:a16="http://schemas.microsoft.com/office/drawing/2014/main" val="2279128989"/>
                    </a:ext>
                  </a:extLst>
                </a:gridCol>
              </a:tblGrid>
              <a:tr h="4126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0">
                          <a:effectLst/>
                        </a:rPr>
                        <a:t>Rola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523" marR="1205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0">
                          <a:effectLst/>
                        </a:rPr>
                        <a:t>Wskaźnik / Target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523" marR="1205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0">
                          <a:effectLst/>
                        </a:rPr>
                        <a:t>Opis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523" marR="120523" marT="0" marB="0"/>
                </a:tc>
                <a:extLst>
                  <a:ext uri="{0D108BD9-81ED-4DB2-BD59-A6C34878D82A}">
                    <a16:rowId xmlns:a16="http://schemas.microsoft.com/office/drawing/2014/main" val="1336530092"/>
                  </a:ext>
                </a:extLst>
              </a:tr>
              <a:tr h="7822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0">
                          <a:effectLst/>
                        </a:rPr>
                        <a:t>Delivery Lead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523" marR="12052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0">
                          <a:effectLst/>
                        </a:rPr>
                        <a:t>Hit ratio: 30%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523" marR="12052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2100" kern="0">
                          <a:effectLst/>
                        </a:rPr>
                        <a:t>Liczba </a:t>
                      </a:r>
                      <a:r>
                        <a:rPr lang="pl-PL" sz="2100" kern="0" err="1">
                          <a:effectLst/>
                        </a:rPr>
                        <a:t>placementów</a:t>
                      </a:r>
                      <a:r>
                        <a:rPr lang="pl-PL" sz="2100" kern="0">
                          <a:effectLst/>
                        </a:rPr>
                        <a:t> w stosunku do liczby zamkniętych zapytań.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523" marR="120523" marT="0" marB="0"/>
                </a:tc>
                <a:extLst>
                  <a:ext uri="{0D108BD9-81ED-4DB2-BD59-A6C34878D82A}">
                    <a16:rowId xmlns:a16="http://schemas.microsoft.com/office/drawing/2014/main" val="414995732"/>
                  </a:ext>
                </a:extLst>
              </a:tr>
              <a:tr h="7822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0">
                          <a:effectLst/>
                        </a:rPr>
                        <a:t>Outbound Recruitment (Rekruterzy)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523" marR="12052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0">
                          <a:effectLst/>
                        </a:rPr>
                        <a:t>5 CV / MD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 placement / </a:t>
                      </a:r>
                      <a:r>
                        <a:rPr lang="en-US" sz="2100" kern="0" err="1">
                          <a:effectLst/>
                        </a:rPr>
                        <a:t>miesiąc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523" marR="12052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2100" kern="0">
                          <a:effectLst/>
                        </a:rPr>
                        <a:t>Liczba CV dodanych do bazy z LinkedIn (aktywny sourcing).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523" marR="120523" marT="0" marB="0"/>
                </a:tc>
                <a:extLst>
                  <a:ext uri="{0D108BD9-81ED-4DB2-BD59-A6C34878D82A}">
                    <a16:rowId xmlns:a16="http://schemas.microsoft.com/office/drawing/2014/main" val="4053654488"/>
                  </a:ext>
                </a:extLst>
              </a:tr>
              <a:tr h="7822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0">
                          <a:effectLst/>
                        </a:rPr>
                        <a:t>Inbound Recruitment (Sourcerzy)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523" marR="12052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0">
                          <a:effectLst/>
                        </a:rPr>
                        <a:t>4 </a:t>
                      </a:r>
                      <a:r>
                        <a:rPr lang="en-US" sz="2100" kern="0" err="1">
                          <a:effectLst/>
                        </a:rPr>
                        <a:t>rekomendacje</a:t>
                      </a:r>
                      <a:r>
                        <a:rPr lang="en-US" sz="2100" kern="0">
                          <a:effectLst/>
                        </a:rPr>
                        <a:t> / MD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kern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 placement / </a:t>
                      </a:r>
                      <a:r>
                        <a:rPr lang="en-US" sz="2100" kern="0" err="1">
                          <a:effectLst/>
                        </a:rPr>
                        <a:t>miesiąc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523" marR="12052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0">
                          <a:effectLst/>
                        </a:rPr>
                        <a:t>Liczba rekomendowanych kandydatów dziennie.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523" marR="120523" marT="0" marB="0"/>
                </a:tc>
                <a:extLst>
                  <a:ext uri="{0D108BD9-81ED-4DB2-BD59-A6C34878D82A}">
                    <a16:rowId xmlns:a16="http://schemas.microsoft.com/office/drawing/2014/main" val="3314754636"/>
                  </a:ext>
                </a:extLst>
              </a:tr>
              <a:tr h="7822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0">
                          <a:effectLst/>
                        </a:rPr>
                        <a:t>Talent Acquisition Consultant (TAC)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523" marR="12052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0">
                          <a:effectLst/>
                        </a:rPr>
                        <a:t>1 placement / </a:t>
                      </a:r>
                      <a:r>
                        <a:rPr lang="en-US" sz="2100" kern="0" err="1">
                          <a:effectLst/>
                        </a:rPr>
                        <a:t>miesiąc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523" marR="12052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0" err="1">
                          <a:effectLst/>
                        </a:rPr>
                        <a:t>Minimalny</a:t>
                      </a:r>
                      <a:r>
                        <a:rPr lang="en-US" sz="2100" kern="0">
                          <a:effectLst/>
                        </a:rPr>
                        <a:t> cel </a:t>
                      </a:r>
                      <a:r>
                        <a:rPr lang="en-US" sz="2100" kern="0" err="1">
                          <a:effectLst/>
                        </a:rPr>
                        <a:t>miesięczny</a:t>
                      </a:r>
                      <a:r>
                        <a:rPr lang="en-US" sz="2100" kern="0">
                          <a:effectLst/>
                        </a:rPr>
                        <a:t>.</a:t>
                      </a:r>
                      <a:endParaRPr lang="en-US" sz="2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0523" marR="120523" marT="0" marB="0"/>
                </a:tc>
                <a:extLst>
                  <a:ext uri="{0D108BD9-81ED-4DB2-BD59-A6C34878D82A}">
                    <a16:rowId xmlns:a16="http://schemas.microsoft.com/office/drawing/2014/main" val="1143901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6785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8D8752-02B1-ED7D-6414-9C0FD0201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C373E4-9B7B-DEAB-CB10-7DAE7A02B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Ogólne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wskażniki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targety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operacyjne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(</a:t>
            </a:r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Usługi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99C770-E4C3-9057-8DA9-064DB70E7C39}"/>
              </a:ext>
            </a:extLst>
          </p:cNvPr>
          <p:cNvSpPr txBox="1"/>
          <p:nvPr/>
        </p:nvSpPr>
        <p:spPr>
          <a:xfrm>
            <a:off x="12115800" y="12261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6C98CB-FDEE-4942-14EB-054A00F62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464238"/>
              </p:ext>
            </p:extLst>
          </p:nvPr>
        </p:nvGraphicFramePr>
        <p:xfrm>
          <a:off x="643467" y="2311250"/>
          <a:ext cx="10905067" cy="31221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81362">
                  <a:extLst>
                    <a:ext uri="{9D8B030D-6E8A-4147-A177-3AD203B41FA5}">
                      <a16:colId xmlns:a16="http://schemas.microsoft.com/office/drawing/2014/main" val="1961089687"/>
                    </a:ext>
                  </a:extLst>
                </a:gridCol>
                <a:gridCol w="3521388">
                  <a:extLst>
                    <a:ext uri="{9D8B030D-6E8A-4147-A177-3AD203B41FA5}">
                      <a16:colId xmlns:a16="http://schemas.microsoft.com/office/drawing/2014/main" val="3051447019"/>
                    </a:ext>
                  </a:extLst>
                </a:gridCol>
                <a:gridCol w="3802317">
                  <a:extLst>
                    <a:ext uri="{9D8B030D-6E8A-4147-A177-3AD203B41FA5}">
                      <a16:colId xmlns:a16="http://schemas.microsoft.com/office/drawing/2014/main" val="3920384239"/>
                    </a:ext>
                  </a:extLst>
                </a:gridCol>
              </a:tblGrid>
              <a:tr h="4669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Rola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6361" marR="13636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Wskaźnik / Target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6361" marR="13636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Opis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6361" marR="136361" marT="0" marB="0"/>
                </a:tc>
                <a:extLst>
                  <a:ext uri="{0D108BD9-81ED-4DB2-BD59-A6C34878D82A}">
                    <a16:rowId xmlns:a16="http://schemas.microsoft.com/office/drawing/2014/main" val="3940596012"/>
                  </a:ext>
                </a:extLst>
              </a:tr>
              <a:tr h="8850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Business Development Manager (BDM)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6361" marR="13636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2 leady + 1 </a:t>
                      </a:r>
                      <a:r>
                        <a:rPr lang="en-US" sz="2400" kern="0" err="1">
                          <a:effectLst/>
                        </a:rPr>
                        <a:t>oferta</a:t>
                      </a:r>
                      <a:r>
                        <a:rPr lang="en-US" sz="2400" kern="0">
                          <a:effectLst/>
                        </a:rPr>
                        <a:t> </a:t>
                      </a:r>
                      <a:r>
                        <a:rPr lang="en-US" sz="2400" kern="0" err="1">
                          <a:effectLst/>
                        </a:rPr>
                        <a:t>tygodniowo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6361" marR="13636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2400" kern="0">
                          <a:effectLst/>
                        </a:rPr>
                        <a:t>Aktywność sprzedażowa i pipeline management.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6361" marR="136361" marT="0" marB="0"/>
                </a:tc>
                <a:extLst>
                  <a:ext uri="{0D108BD9-81ED-4DB2-BD59-A6C34878D82A}">
                    <a16:rowId xmlns:a16="http://schemas.microsoft.com/office/drawing/2014/main" val="1572929877"/>
                  </a:ext>
                </a:extLst>
              </a:tr>
              <a:tr h="8850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Sales Development Representative (SDR)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6361" marR="13636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1 leady </a:t>
                      </a:r>
                      <a:r>
                        <a:rPr lang="en-US" sz="2400" kern="0" dirty="0" err="1">
                          <a:effectLst/>
                        </a:rPr>
                        <a:t>dziennie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6361" marR="13636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Cold outreach / generowanie leadów.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6361" marR="136361" marT="0" marB="0"/>
                </a:tc>
                <a:extLst>
                  <a:ext uri="{0D108BD9-81ED-4DB2-BD59-A6C34878D82A}">
                    <a16:rowId xmlns:a16="http://schemas.microsoft.com/office/drawing/2014/main" val="3254249621"/>
                  </a:ext>
                </a:extLst>
              </a:tr>
              <a:tr h="8850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Head of Cloud / Cyber</a:t>
                      </a:r>
                      <a:endParaRPr lang="en-US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6361" marR="13636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2400" kern="0" dirty="0">
                          <a:effectLst/>
                        </a:rPr>
                        <a:t>Target: 180k MRR marżowy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6361" marR="13636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2400" kern="0" dirty="0">
                          <a:effectLst/>
                        </a:rPr>
                        <a:t>Cel finansowy w oparciu o marżę miesięczną.</a:t>
                      </a:r>
                      <a:endParaRPr lang="en-US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6361" marR="136361" marT="0" marB="0"/>
                </a:tc>
                <a:extLst>
                  <a:ext uri="{0D108BD9-81ED-4DB2-BD59-A6C34878D82A}">
                    <a16:rowId xmlns:a16="http://schemas.microsoft.com/office/drawing/2014/main" val="3503136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86994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5CAA5-4D47-83E5-6BCE-010D7F6F0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err="1"/>
              <a:t>Komentarz</a:t>
            </a:r>
            <a:r>
              <a:rPr lang="en-US" b="1"/>
              <a:t> </a:t>
            </a:r>
            <a:r>
              <a:rPr lang="en-US" b="1" err="1"/>
              <a:t>operacyjny</a:t>
            </a:r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85774-1E3E-B43C-7514-BE3A69889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Andrzej: target </a:t>
            </a:r>
            <a:r>
              <a:rPr lang="pl-PL" b="1"/>
              <a:t>40k PLN marży/miesiąc</a:t>
            </a:r>
            <a:r>
              <a:rPr lang="pl-PL"/>
              <a:t> – realizacja prawdopodobna.</a:t>
            </a:r>
            <a:endParaRPr lang="en-US"/>
          </a:p>
          <a:p>
            <a:pPr lvl="0"/>
            <a:r>
              <a:rPr lang="pl-PL"/>
              <a:t>Robert: target </a:t>
            </a:r>
            <a:r>
              <a:rPr lang="pl-PL" b="1"/>
              <a:t>70k PLN marży/miesiąc</a:t>
            </a:r>
            <a:r>
              <a:rPr lang="pl-PL"/>
              <a:t> – ???.</a:t>
            </a:r>
            <a:endParaRPr lang="en-US"/>
          </a:p>
          <a:p>
            <a:pPr lvl="0"/>
            <a:r>
              <a:rPr lang="pl-PL"/>
              <a:t>Wprowadzono eksperta SOC – projekt transformacyjny.</a:t>
            </a:r>
            <a:endParaRPr lang="en-US"/>
          </a:p>
          <a:p>
            <a:pPr lvl="1"/>
            <a:r>
              <a:rPr lang="pl-PL"/>
              <a:t>Jeśli do końca roku nie osiągniemy efektu, w 2026 redukcja kosztów w obszarze </a:t>
            </a:r>
            <a:r>
              <a:rPr lang="pl-PL" err="1"/>
              <a:t>cyber</a:t>
            </a:r>
            <a:r>
              <a:rPr lang="pl-PL"/>
              <a:t> (pozostaną wyłącznie testy penetracyjne).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807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7C90FB-70AC-1450-B3D6-1DE99C6BA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E3C3B-C9BA-0CFC-2BBE-69D80590A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Ogólne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wskażniki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targety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operacyjne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(</a:t>
            </a:r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Przetargi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489C0-7318-6673-09BE-72E892F78D84}"/>
              </a:ext>
            </a:extLst>
          </p:cNvPr>
          <p:cNvSpPr txBox="1"/>
          <p:nvPr/>
        </p:nvSpPr>
        <p:spPr>
          <a:xfrm>
            <a:off x="12115800" y="12261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CA66B7-3E36-CB68-489D-EBD18197D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578119"/>
              </p:ext>
            </p:extLst>
          </p:nvPr>
        </p:nvGraphicFramePr>
        <p:xfrm>
          <a:off x="643467" y="2313719"/>
          <a:ext cx="10905068" cy="31172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3645">
                  <a:extLst>
                    <a:ext uri="{9D8B030D-6E8A-4147-A177-3AD203B41FA5}">
                      <a16:colId xmlns:a16="http://schemas.microsoft.com/office/drawing/2014/main" val="3126739366"/>
                    </a:ext>
                  </a:extLst>
                </a:gridCol>
                <a:gridCol w="4308221">
                  <a:extLst>
                    <a:ext uri="{9D8B030D-6E8A-4147-A177-3AD203B41FA5}">
                      <a16:colId xmlns:a16="http://schemas.microsoft.com/office/drawing/2014/main" val="2398648130"/>
                    </a:ext>
                  </a:extLst>
                </a:gridCol>
                <a:gridCol w="4623202">
                  <a:extLst>
                    <a:ext uri="{9D8B030D-6E8A-4147-A177-3AD203B41FA5}">
                      <a16:colId xmlns:a16="http://schemas.microsoft.com/office/drawing/2014/main" val="3949737282"/>
                    </a:ext>
                  </a:extLst>
                </a:gridCol>
              </a:tblGrid>
              <a:tr h="5481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0">
                          <a:effectLst/>
                        </a:rPr>
                        <a:t>Rola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0085" marR="16008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0">
                          <a:effectLst/>
                        </a:rPr>
                        <a:t>Wskaźnik / Target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0085" marR="16008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0">
                          <a:effectLst/>
                        </a:rPr>
                        <a:t>Opis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0085" marR="160085" marT="0" marB="0"/>
                </a:tc>
                <a:extLst>
                  <a:ext uri="{0D108BD9-81ED-4DB2-BD59-A6C34878D82A}">
                    <a16:rowId xmlns:a16="http://schemas.microsoft.com/office/drawing/2014/main" val="627226328"/>
                  </a:ext>
                </a:extLst>
              </a:tr>
              <a:tr h="1039072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0">
                          <a:effectLst/>
                        </a:rPr>
                        <a:t>Head of </a:t>
                      </a:r>
                      <a:r>
                        <a:rPr lang="en-US" sz="2800" kern="0" err="1">
                          <a:effectLst/>
                        </a:rPr>
                        <a:t>Przetargi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0085" marR="1600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2800" kern="0">
                          <a:effectLst/>
                        </a:rPr>
                        <a:t>Target: MRR marżowy (2026 do ustalenia)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0085" marR="1600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2800" kern="0">
                          <a:effectLst/>
                        </a:rPr>
                        <a:t>Cel przychodowy z marży miesięcznej.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0085" marR="160085" marT="0" marB="0"/>
                </a:tc>
                <a:extLst>
                  <a:ext uri="{0D108BD9-81ED-4DB2-BD59-A6C34878D82A}">
                    <a16:rowId xmlns:a16="http://schemas.microsoft.com/office/drawing/2014/main" val="531427163"/>
                  </a:ext>
                </a:extLst>
              </a:tr>
              <a:tr h="153000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28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60085" marR="1600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2800" kern="0">
                          <a:effectLst/>
                        </a:rPr>
                        <a:t>20k PLN marży/miesiąc (240k rocznie)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0085" marR="1600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2800" kern="0">
                          <a:effectLst/>
                        </a:rPr>
                        <a:t>Cel na 2025 – utrzymanie rentowności działu (</a:t>
                      </a:r>
                      <a:r>
                        <a:rPr lang="pl-PL" sz="2800" kern="0" err="1">
                          <a:effectLst/>
                        </a:rPr>
                        <a:t>break-even</a:t>
                      </a:r>
                      <a:r>
                        <a:rPr lang="pl-PL" sz="2800" kern="0">
                          <a:effectLst/>
                        </a:rPr>
                        <a:t>).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0085" marR="160085" marT="0" marB="0"/>
                </a:tc>
                <a:extLst>
                  <a:ext uri="{0D108BD9-81ED-4DB2-BD59-A6C34878D82A}">
                    <a16:rowId xmlns:a16="http://schemas.microsoft.com/office/drawing/2014/main" val="1189920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2787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D3CEC-7159-EA1B-91CF-B1BA5133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err="1"/>
              <a:t>Komentarz</a:t>
            </a:r>
            <a:r>
              <a:rPr lang="en-US" b="1"/>
              <a:t> </a:t>
            </a:r>
            <a:r>
              <a:rPr lang="en-US" b="1" err="1"/>
              <a:t>operacyjny</a:t>
            </a:r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F75BE-5813-0E80-EC8B-F903DFFF1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Olaf: target </a:t>
            </a:r>
            <a:r>
              <a:rPr lang="pl-PL" b="1"/>
              <a:t>osiągnięty</a:t>
            </a:r>
            <a:r>
              <a:rPr lang="pl-PL"/>
              <a:t> dzięki wygranym przetargom.</a:t>
            </a:r>
            <a:endParaRPr lang="en-US"/>
          </a:p>
          <a:p>
            <a:pPr lvl="0"/>
            <a:r>
              <a:rPr lang="pl-PL"/>
              <a:t>W 2026 planowany </a:t>
            </a:r>
            <a:r>
              <a:rPr lang="pl-PL" b="1"/>
              <a:t>wzrost </a:t>
            </a:r>
            <a:r>
              <a:rPr lang="pl-PL" b="1" err="1"/>
              <a:t>targetu</a:t>
            </a:r>
            <a:r>
              <a:rPr lang="pl-PL"/>
              <a:t> w oparciu o aktualne wyniki i </a:t>
            </a:r>
            <a:r>
              <a:rPr lang="pl-PL" err="1"/>
              <a:t>pipeline</a:t>
            </a:r>
            <a:r>
              <a:rPr lang="pl-PL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900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531F2-0B25-A714-26FC-751CC1550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2468D-27BC-9094-426D-8A8B82A35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Ogólne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wskażniki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targety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operacyjne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(Project Delivery)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99F73-7DBA-86A3-BCFD-E6B3F6848C16}"/>
              </a:ext>
            </a:extLst>
          </p:cNvPr>
          <p:cNvSpPr txBox="1"/>
          <p:nvPr/>
        </p:nvSpPr>
        <p:spPr>
          <a:xfrm>
            <a:off x="12115800" y="12261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E9D5ED-07D1-8DED-6770-913A9B66F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908163"/>
              </p:ext>
            </p:extLst>
          </p:nvPr>
        </p:nvGraphicFramePr>
        <p:xfrm>
          <a:off x="643467" y="3054828"/>
          <a:ext cx="10905067" cy="16349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17152">
                  <a:extLst>
                    <a:ext uri="{9D8B030D-6E8A-4147-A177-3AD203B41FA5}">
                      <a16:colId xmlns:a16="http://schemas.microsoft.com/office/drawing/2014/main" val="1910700413"/>
                    </a:ext>
                  </a:extLst>
                </a:gridCol>
                <a:gridCol w="3502691">
                  <a:extLst>
                    <a:ext uri="{9D8B030D-6E8A-4147-A177-3AD203B41FA5}">
                      <a16:colId xmlns:a16="http://schemas.microsoft.com/office/drawing/2014/main" val="561867649"/>
                    </a:ext>
                  </a:extLst>
                </a:gridCol>
                <a:gridCol w="4285224">
                  <a:extLst>
                    <a:ext uri="{9D8B030D-6E8A-4147-A177-3AD203B41FA5}">
                      <a16:colId xmlns:a16="http://schemas.microsoft.com/office/drawing/2014/main" val="2171062447"/>
                    </a:ext>
                  </a:extLst>
                </a:gridCol>
              </a:tblGrid>
              <a:tr h="5646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900" kern="0">
                          <a:effectLst/>
                        </a:rPr>
                        <a:t>Rola</a:t>
                      </a:r>
                      <a:endParaRPr lang="en-US" sz="2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904" marR="16490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900" kern="0">
                          <a:effectLst/>
                        </a:rPr>
                        <a:t>Wskaźnik / Target</a:t>
                      </a:r>
                      <a:endParaRPr lang="en-US" sz="2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904" marR="16490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900" kern="0">
                          <a:effectLst/>
                        </a:rPr>
                        <a:t>Opis</a:t>
                      </a:r>
                      <a:endParaRPr lang="en-US" sz="2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904" marR="164904" marT="0" marB="0"/>
                </a:tc>
                <a:extLst>
                  <a:ext uri="{0D108BD9-81ED-4DB2-BD59-A6C34878D82A}">
                    <a16:rowId xmlns:a16="http://schemas.microsoft.com/office/drawing/2014/main" val="1153669832"/>
                  </a:ext>
                </a:extLst>
              </a:tr>
              <a:tr h="10703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900" kern="0">
                          <a:effectLst/>
                        </a:rPr>
                        <a:t>Head of Project Delivery</a:t>
                      </a:r>
                      <a:endParaRPr lang="en-US" sz="2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904" marR="16490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900" kern="0">
                          <a:effectLst/>
                        </a:rPr>
                        <a:t>Marża projektowa ≥ 25%</a:t>
                      </a:r>
                      <a:endParaRPr lang="en-US" sz="2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904" marR="16490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900" kern="0" err="1">
                          <a:effectLst/>
                        </a:rPr>
                        <a:t>Minimalny</a:t>
                      </a:r>
                      <a:r>
                        <a:rPr lang="en-US" sz="2900" kern="0">
                          <a:effectLst/>
                        </a:rPr>
                        <a:t> </a:t>
                      </a:r>
                      <a:r>
                        <a:rPr lang="en-US" sz="2900" kern="0" err="1">
                          <a:effectLst/>
                        </a:rPr>
                        <a:t>poziom</a:t>
                      </a:r>
                      <a:r>
                        <a:rPr lang="en-US" sz="2900" kern="0">
                          <a:effectLst/>
                        </a:rPr>
                        <a:t> </a:t>
                      </a:r>
                      <a:r>
                        <a:rPr lang="en-US" sz="2900" kern="0" err="1">
                          <a:effectLst/>
                        </a:rPr>
                        <a:t>rentowności</a:t>
                      </a:r>
                      <a:r>
                        <a:rPr lang="en-US" sz="2900" kern="0">
                          <a:effectLst/>
                        </a:rPr>
                        <a:t> </a:t>
                      </a:r>
                      <a:r>
                        <a:rPr lang="en-US" sz="2900" kern="0" err="1">
                          <a:effectLst/>
                        </a:rPr>
                        <a:t>projektów</a:t>
                      </a:r>
                      <a:r>
                        <a:rPr lang="en-US" sz="2900" kern="0">
                          <a:effectLst/>
                        </a:rPr>
                        <a:t>.</a:t>
                      </a:r>
                      <a:endParaRPr lang="en-US" sz="2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904" marR="164904" marT="0" marB="0"/>
                </a:tc>
                <a:extLst>
                  <a:ext uri="{0D108BD9-81ED-4DB2-BD59-A6C34878D82A}">
                    <a16:rowId xmlns:a16="http://schemas.microsoft.com/office/drawing/2014/main" val="364504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05769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8319D-B5AF-1CAF-FB45-C31FE4F20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D113A-933F-53DF-92C0-86341E79D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err="1"/>
              <a:t>Komentarz</a:t>
            </a:r>
            <a:r>
              <a:rPr lang="en-US" b="1"/>
              <a:t> </a:t>
            </a:r>
            <a:r>
              <a:rPr lang="en-US" b="1" err="1"/>
              <a:t>operacyjny</a:t>
            </a:r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1935D-1F23-2180-D89A-CDABDF29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Aktualnie marże </a:t>
            </a:r>
            <a:r>
              <a:rPr lang="pl-PL" b="1"/>
              <a:t>powyżej zakładanych 25%</a:t>
            </a:r>
            <a:r>
              <a:rPr lang="pl-PL"/>
              <a:t>, co potwierdza efektywność operacyjną i kontrolę kosztową.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280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404341-2936-91B6-4FDA-968DB12D0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To do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48DDEE8-9C9D-63EE-0EE8-2DBE364AB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5" y="1697345"/>
            <a:ext cx="10515600" cy="4351338"/>
          </a:xfrm>
        </p:spPr>
        <p:txBody>
          <a:bodyPr>
            <a:normAutofit fontScale="55000" lnSpcReduction="20000"/>
          </a:bodyPr>
          <a:lstStyle/>
          <a:p>
            <a:r>
              <a:rPr lang="pl-PL" dirty="0"/>
              <a:t>Audyt </a:t>
            </a:r>
            <a:r>
              <a:rPr lang="pl-PL" dirty="0" err="1"/>
              <a:t>prepów</a:t>
            </a:r>
            <a:endParaRPr lang="pl-PL" dirty="0"/>
          </a:p>
          <a:p>
            <a:r>
              <a:rPr lang="pl-PL" dirty="0"/>
              <a:t>Audyt wiedzy cc -&gt; szkolenie</a:t>
            </a:r>
          </a:p>
          <a:p>
            <a:r>
              <a:rPr lang="pl-PL" dirty="0" err="1"/>
              <a:t>Staty</a:t>
            </a:r>
            <a:r>
              <a:rPr lang="pl-PL" dirty="0"/>
              <a:t> per MD: weryfikacje, interview, placki</a:t>
            </a:r>
          </a:p>
          <a:p>
            <a:r>
              <a:rPr lang="pl-PL" dirty="0"/>
              <a:t>Hit ratio -&gt; Klaudia  i Igor -&gt; wnioski na Zarząd:</a:t>
            </a:r>
          </a:p>
          <a:p>
            <a:pPr lvl="1"/>
            <a:r>
              <a:rPr lang="pl-PL" dirty="0"/>
              <a:t>Igor: gorsze wyniki wynikały z braku podjęcia decyzji przez Klienta. W grudniu, kiedy decyzje zapadły Igor miał 4 oferty z czego domknął …. </a:t>
            </a:r>
            <a:r>
              <a:rPr lang="pl-PL" dirty="0" err="1"/>
              <a:t>placementy</a:t>
            </a:r>
            <a:endParaRPr lang="pl-PL" dirty="0"/>
          </a:p>
          <a:p>
            <a:r>
              <a:rPr lang="pl-PL" dirty="0"/>
              <a:t>Metodologia </a:t>
            </a:r>
            <a:r>
              <a:rPr lang="pl-PL" dirty="0" err="1"/>
              <a:t>stat</a:t>
            </a:r>
            <a:r>
              <a:rPr lang="pl-PL" dirty="0"/>
              <a:t> hit ratio</a:t>
            </a:r>
          </a:p>
          <a:p>
            <a:r>
              <a:rPr lang="pl-PL" dirty="0"/>
              <a:t>Wykres trendów hit ratio + </a:t>
            </a:r>
            <a:r>
              <a:rPr lang="pl-PL" dirty="0" err="1"/>
              <a:t>reko</a:t>
            </a:r>
            <a:r>
              <a:rPr lang="pl-PL" dirty="0"/>
              <a:t> + zamknięte procesy</a:t>
            </a:r>
          </a:p>
          <a:p>
            <a:r>
              <a:rPr lang="pl-PL" dirty="0"/>
              <a:t>Placki -&gt; </a:t>
            </a:r>
            <a:r>
              <a:rPr lang="pl-PL" dirty="0" err="1"/>
              <a:t>rekruterzy</a:t>
            </a:r>
            <a:r>
              <a:rPr lang="pl-PL" dirty="0"/>
              <a:t>, TAC, </a:t>
            </a:r>
            <a:r>
              <a:rPr lang="pl-PL" dirty="0" err="1"/>
              <a:t>Sourcerzy</a:t>
            </a:r>
            <a:endParaRPr lang="pl-PL" dirty="0"/>
          </a:p>
          <a:p>
            <a:r>
              <a:rPr lang="pl-PL" dirty="0"/>
              <a:t>procedura </a:t>
            </a:r>
            <a:r>
              <a:rPr lang="pl-PL" dirty="0" err="1"/>
              <a:t>onboardingu</a:t>
            </a:r>
            <a:r>
              <a:rPr lang="pl-PL" dirty="0"/>
              <a:t>, w której przekazuje się nowej osobie aktualną listę pracowników (posiada ją Michał Stankiewicz) do zaproszenia na </a:t>
            </a:r>
            <a:r>
              <a:rPr lang="pl-PL" dirty="0" err="1"/>
              <a:t>Linkedin</a:t>
            </a:r>
            <a:r>
              <a:rPr lang="pl-PL" dirty="0"/>
              <a:t>.</a:t>
            </a:r>
          </a:p>
          <a:p>
            <a:r>
              <a:rPr lang="pl-PL" dirty="0"/>
              <a:t>Diana -&gt; posty na naszym </a:t>
            </a:r>
            <a:r>
              <a:rPr lang="pl-PL" dirty="0" err="1"/>
              <a:t>layout’cie</a:t>
            </a:r>
            <a:endParaRPr lang="pl-PL" dirty="0"/>
          </a:p>
          <a:p>
            <a:r>
              <a:rPr lang="pl-PL" dirty="0"/>
              <a:t>Tło </a:t>
            </a:r>
            <a:r>
              <a:rPr lang="pl-PL" dirty="0" err="1"/>
              <a:t>Linkedin</a:t>
            </a:r>
            <a:r>
              <a:rPr lang="pl-PL" dirty="0"/>
              <a:t> B2B dla Wszystkich</a:t>
            </a:r>
          </a:p>
          <a:p>
            <a:r>
              <a:rPr lang="pl-PL" dirty="0"/>
              <a:t>Różne stawki </a:t>
            </a:r>
            <a:r>
              <a:rPr lang="pl-PL" dirty="0" err="1"/>
              <a:t>reko</a:t>
            </a:r>
            <a:endParaRPr lang="pl-PL" dirty="0"/>
          </a:p>
          <a:p>
            <a:r>
              <a:rPr lang="pl-PL" dirty="0"/>
              <a:t>DL -&gt; w kalendarzu weryfikacja </a:t>
            </a:r>
            <a:r>
              <a:rPr lang="pl-PL" dirty="0" err="1"/>
              <a:t>pipeline</a:t>
            </a:r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320883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40A4DF5-E0A0-866F-3C68-7CF24FC5A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Metodologia i częstotliwość raportowania KPI</a:t>
            </a: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20E4F071-295F-A6E6-CA3D-F8754DC43C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9318971"/>
              </p:ext>
            </p:extLst>
          </p:nvPr>
        </p:nvGraphicFramePr>
        <p:xfrm>
          <a:off x="2460112" y="2134147"/>
          <a:ext cx="6585564" cy="3363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81662">
                  <a:extLst>
                    <a:ext uri="{9D8B030D-6E8A-4147-A177-3AD203B41FA5}">
                      <a16:colId xmlns:a16="http://schemas.microsoft.com/office/drawing/2014/main" val="2497094632"/>
                    </a:ext>
                  </a:extLst>
                </a:gridCol>
                <a:gridCol w="1370852">
                  <a:extLst>
                    <a:ext uri="{9D8B030D-6E8A-4147-A177-3AD203B41FA5}">
                      <a16:colId xmlns:a16="http://schemas.microsoft.com/office/drawing/2014/main" val="921610074"/>
                    </a:ext>
                  </a:extLst>
                </a:gridCol>
                <a:gridCol w="1133050">
                  <a:extLst>
                    <a:ext uri="{9D8B030D-6E8A-4147-A177-3AD203B41FA5}">
                      <a16:colId xmlns:a16="http://schemas.microsoft.com/office/drawing/2014/main" val="186436253"/>
                    </a:ext>
                  </a:extLst>
                </a:gridCol>
              </a:tblGrid>
              <a:tr h="4586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KPI</a:t>
                      </a:r>
                      <a:endParaRPr lang="pl-PL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Metoda</a:t>
                      </a:r>
                      <a:endParaRPr lang="pl-PL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Częstotliwość</a:t>
                      </a:r>
                      <a:endParaRPr lang="pl-PL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16973505"/>
                  </a:ext>
                </a:extLst>
              </a:tr>
              <a:tr h="2446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DD-01: Profile Completion Rate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Opisowo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Miesięcznie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31273670"/>
                  </a:ext>
                </a:extLst>
              </a:tr>
              <a:tr h="2446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TD-01: Sourcer Daily veryfication amount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matematycznie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Tygodniowo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45438922"/>
                  </a:ext>
                </a:extLst>
              </a:tr>
              <a:tr h="2446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TD-02: job post coverage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matematycznie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Tygodniowo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01073623"/>
                  </a:ext>
                </a:extLst>
              </a:tr>
              <a:tr h="2446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TD-03: Recruiter weekly new CV upload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matematycznie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Tygodniowo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87097785"/>
                  </a:ext>
                </a:extLst>
              </a:tr>
              <a:tr h="2446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CS-01: Rejection Justification Timeliness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Opisowo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Miesięcznie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50363672"/>
                  </a:ext>
                </a:extLst>
              </a:tr>
              <a:tr h="2446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CS-02: Technical Verification Rate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matematycznie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Miesięcznie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6964473"/>
                  </a:ext>
                </a:extLst>
              </a:tr>
              <a:tr h="2446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CS-04: Candidate Follow-up Frequency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matematycznie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Miesięcznie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90008203"/>
                  </a:ext>
                </a:extLst>
              </a:tr>
              <a:tr h="2446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IM-02: Prep Call Completion Rate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matematycznie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Miesięcznie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62459290"/>
                  </a:ext>
                </a:extLst>
              </a:tr>
              <a:tr h="4586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IM-05: Feedback after interview from the candiate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matematycznie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Miesięcznie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76356810"/>
                  </a:ext>
                </a:extLst>
              </a:tr>
              <a:tr h="2446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 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92193878"/>
                  </a:ext>
                </a:extLst>
              </a:tr>
              <a:tr h="2446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DL Hit ratio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matematycznie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100" u="none" strike="noStrike">
                          <a:effectLst/>
                        </a:rPr>
                        <a:t>Miesięcznie</a:t>
                      </a:r>
                      <a:endParaRPr lang="pl-P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10121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15812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fbefbc4-4ee5-4c9f-a011-6bda02296f09" xsi:nil="true"/>
    <lcf76f155ced4ddcb4097134ff3c332f xmlns="a90ad3ae-b27d-4c0e-bd0b-848ceab39452">
      <Terms xmlns="http://schemas.microsoft.com/office/infopath/2007/PartnerControls"/>
    </lcf76f155ced4ddcb4097134ff3c332f>
    <Data xmlns="a90ad3ae-b27d-4c0e-bd0b-848ceab3945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25116FC284B674199F9CFCD6291CEF5" ma:contentTypeVersion="16" ma:contentTypeDescription="Utwórz nowy dokument." ma:contentTypeScope="" ma:versionID="12dbc2cacf5f74fbffba72e1390538e4">
  <xsd:schema xmlns:xsd="http://www.w3.org/2001/XMLSchema" xmlns:xs="http://www.w3.org/2001/XMLSchema" xmlns:p="http://schemas.microsoft.com/office/2006/metadata/properties" xmlns:ns2="a90ad3ae-b27d-4c0e-bd0b-848ceab39452" xmlns:ns3="8fbefbc4-4ee5-4c9f-a011-6bda02296f09" targetNamespace="http://schemas.microsoft.com/office/2006/metadata/properties" ma:root="true" ma:fieldsID="4a5abc13e90dbf9ac06afa8237789059" ns2:_="" ns3:_="">
    <xsd:import namespace="a90ad3ae-b27d-4c0e-bd0b-848ceab39452"/>
    <xsd:import namespace="8fbefbc4-4ee5-4c9f-a011-6bda02296f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0ad3ae-b27d-4c0e-bd0b-848ceab394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i obrazów" ma:readOnly="false" ma:fieldId="{5cf76f15-5ced-4ddc-b409-7134ff3c332f}" ma:taxonomyMulti="true" ma:sspId="52bde896-ac34-4a4f-9719-7f0fea23a5b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Data" ma:index="23" nillable="true" ma:displayName="Data" ma:format="DateTime" ma:internalName="Data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befbc4-4ee5-4c9f-a011-6bda02296f0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ecc725d-c206-4572-b524-ac8da222cb48}" ma:internalName="TaxCatchAll" ma:showField="CatchAllData" ma:web="8fbefbc4-4ee5-4c9f-a011-6bda02296f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763EFA-FA04-44B9-AADC-D2708DFF0858}">
  <ds:schemaRefs>
    <ds:schemaRef ds:uri="http://schemas.microsoft.com/office/infopath/2007/PartnerControls"/>
    <ds:schemaRef ds:uri="8fbefbc4-4ee5-4c9f-a011-6bda02296f09"/>
    <ds:schemaRef ds:uri="http://schemas.openxmlformats.org/package/2006/metadata/core-properties"/>
    <ds:schemaRef ds:uri="http://purl.org/dc/dcmitype/"/>
    <ds:schemaRef ds:uri="http://www.w3.org/XML/1998/namespace"/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a90ad3ae-b27d-4c0e-bd0b-848ceab39452"/>
  </ds:schemaRefs>
</ds:datastoreItem>
</file>

<file path=customXml/itemProps2.xml><?xml version="1.0" encoding="utf-8"?>
<ds:datastoreItem xmlns:ds="http://schemas.openxmlformats.org/officeDocument/2006/customXml" ds:itemID="{21C4B5B8-264D-4878-A259-39876836EF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0ad3ae-b27d-4c0e-bd0b-848ceab39452"/>
    <ds:schemaRef ds:uri="8fbefbc4-4ee5-4c9f-a011-6bda02296f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07B34E-39FC-4CCE-842A-737C09D7B52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2357</Words>
  <Application>Microsoft Macintosh PowerPoint</Application>
  <PresentationFormat>Panoramiczny</PresentationFormat>
  <Paragraphs>346</Paragraphs>
  <Slides>38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38</vt:i4>
      </vt:variant>
    </vt:vector>
  </HeadingPairs>
  <TitlesOfParts>
    <vt:vector size="45" baseType="lpstr">
      <vt:lpstr>Aptos</vt:lpstr>
      <vt:lpstr>Aptos Display</vt:lpstr>
      <vt:lpstr>Aptos Narrow</vt:lpstr>
      <vt:lpstr>Arial</vt:lpstr>
      <vt:lpstr>Calibri</vt:lpstr>
      <vt:lpstr>Times New Roman</vt:lpstr>
      <vt:lpstr>Motyw pakietu Office</vt:lpstr>
      <vt:lpstr>Komitet Sterujący </vt:lpstr>
      <vt:lpstr>Body Leasing</vt:lpstr>
      <vt:lpstr>1. Demand Definition (Request to Search)</vt:lpstr>
      <vt:lpstr>1. Demand Definition (Request to Search)</vt:lpstr>
      <vt:lpstr>2. Talent Discovery (Search to Screening)</vt:lpstr>
      <vt:lpstr>2. Talent Discovery (Search to Screening)</vt:lpstr>
      <vt:lpstr>3. Candidate Qualification (Screening to CV Template) </vt:lpstr>
      <vt:lpstr>3. Candidate Qualification (Screening to CV Template) </vt:lpstr>
      <vt:lpstr>4. Client Submission (CV Template to Recommendation)</vt:lpstr>
      <vt:lpstr>4. Client Submission (CV Template to Recommendation)</vt:lpstr>
      <vt:lpstr>5. Interview Management (Recommendation to Interview) </vt:lpstr>
      <vt:lpstr>5. Interview Management (Recommendation to Interview) </vt:lpstr>
      <vt:lpstr>6. Engagement &amp; Placement (Interview to Placement)</vt:lpstr>
      <vt:lpstr>6. Engagement &amp; Placement (Interview to Placement)</vt:lpstr>
      <vt:lpstr>Raporty</vt:lpstr>
      <vt:lpstr>Sales</vt:lpstr>
      <vt:lpstr>1. Market Intelligence to Target Definition </vt:lpstr>
      <vt:lpstr>1. Market Intelligence → Target Definition </vt:lpstr>
      <vt:lpstr>2. Target to Lead (Outbound &amp; Inbound) </vt:lpstr>
      <vt:lpstr>2. Target to Lead (Outbound &amp; Inbound SDR) </vt:lpstr>
      <vt:lpstr>3. MQL to SQL (Discovery &amp; Qualification) </vt:lpstr>
      <vt:lpstr>3. MQL to SQL (Discovery &amp; Qualification) </vt:lpstr>
      <vt:lpstr>4. SQL to Offer (Solution Design &amp; Business Case)</vt:lpstr>
      <vt:lpstr>4. SQL to Offer (Solution Design &amp; Business Case)</vt:lpstr>
      <vt:lpstr>5. Offer to Contract (Negotiation &amp; Closing)</vt:lpstr>
      <vt:lpstr>5. Offer to Contract (Negotiation &amp; Closing)</vt:lpstr>
      <vt:lpstr>6. Contract to Expansion (Post-Sale &amp; Growth Loop)</vt:lpstr>
      <vt:lpstr>6. Contract to Expansion (Post-Sale &amp; Growth Loop)</vt:lpstr>
      <vt:lpstr>Raporty</vt:lpstr>
      <vt:lpstr>Ogólne wskażniki i targety operacyjne (Body Leasing)</vt:lpstr>
      <vt:lpstr>Ogólne wskażniki i targety operacyjne (Usługi)</vt:lpstr>
      <vt:lpstr>Komentarz operacyjny </vt:lpstr>
      <vt:lpstr>Ogólne wskażniki i targety operacyjne (Przetargi)</vt:lpstr>
      <vt:lpstr>Komentarz operacyjny </vt:lpstr>
      <vt:lpstr>Ogólne wskażniki i targety operacyjne (Project Delivery)</vt:lpstr>
      <vt:lpstr>Komentarz operacyjny </vt:lpstr>
      <vt:lpstr>To do</vt:lpstr>
      <vt:lpstr>Metodologia i częstotliwość raportowania KPI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Zbigniew Twardowski</cp:lastModifiedBy>
  <cp:revision>2</cp:revision>
  <dcterms:created xsi:type="dcterms:W3CDTF">2025-11-11T09:40:55Z</dcterms:created>
  <dcterms:modified xsi:type="dcterms:W3CDTF">2026-02-24T12:35:43Z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0x010100025116FC284B674199F9CFCD6291CEF5</vt:lpwstr>
  </property>
  <property fmtid="{D5CDD505-2E9C-101B-9397-08002B2CF9AE}" pid="3" name="MediaServiceImageTags">
    <vt:lpwstr/>
  </property>
</Properties>
</file>